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3d0d54b3f1589d3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3d0d54b3f1589d3b_18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3d0d54b3f1589d3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3d0d54b3f1589d3b_15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4ca4a401913c159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4ca4a401913c159d_7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4ca4a401913c159d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4ca4a401913c159d_10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ca4a401913c159d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h4ca4a401913c159d_19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4ca4a401913c159d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4ca4a401913c159d_30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3d0d54b3f1589d3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h3d0d54b3f1589d3b_2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3d0d54b3f1589d3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h3d0d54b3f1589d3b_4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h3d0d54b3f1589d3b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h3d0d54b3f1589d3b_11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h3d0d54b3f1589d3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h3d0d54b3f1589d3b_24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5383674" cy="5143500"/>
          </a:xfrm>
          <a:prstGeom prst="rect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383674" y="0"/>
            <a:ext cx="3760341" cy="5143500"/>
          </a:xfrm>
          <a:prstGeom prst="rect">
            <a:avLst/>
          </a:prstGeom>
          <a:solidFill>
            <a:srgbClr val="E5E9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5129921" y="720090"/>
            <a:ext cx="61724" cy="3278124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69775" y="425196"/>
            <a:ext cx="6858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C6D1DE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480073" y="1042416"/>
            <a:ext cx="425207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DADOS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480073" y="1426464"/>
            <a:ext cx="425207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ANALYTICS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493789" y="1961388"/>
            <a:ext cx="891564" cy="41148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93789" y="2276856"/>
            <a:ext cx="4012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Canal de Venda Direta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493789" y="2866643"/>
            <a:ext cx="401203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D3DCE6"/>
                </a:solidFill>
                <a:latin typeface="Arial"/>
                <a:ea typeface="Arial"/>
                <a:cs typeface="Arial"/>
                <a:sym typeface="Arial"/>
              </a:rPr>
              <a:t>Diagnóstico de performance • ciclo 2025-16</a:t>
            </a:r>
            <a:endParaRPr sz="1100"/>
          </a:p>
        </p:txBody>
      </p:sp>
      <p:sp>
        <p:nvSpPr>
          <p:cNvPr id="138" name="Google Shape;138;p25"/>
          <p:cNvSpPr txBox="1"/>
          <p:nvPr/>
        </p:nvSpPr>
        <p:spPr>
          <a:xfrm>
            <a:off x="5623709" y="699516"/>
            <a:ext cx="298330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/>
          </a:p>
        </p:txBody>
      </p:sp>
      <p:sp>
        <p:nvSpPr>
          <p:cNvPr id="139" name="Google Shape;139;p25"/>
          <p:cNvSpPr txBox="1"/>
          <p:nvPr/>
        </p:nvSpPr>
        <p:spPr>
          <a:xfrm>
            <a:off x="6206655" y="1330464"/>
            <a:ext cx="240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F5F80"/>
                </a:solidFill>
                <a:latin typeface="Arial"/>
                <a:ea typeface="Arial"/>
                <a:cs typeface="Arial"/>
                <a:sym typeface="Arial"/>
              </a:rPr>
              <a:t>CICLO 2025</a:t>
            </a:r>
            <a:endParaRPr sz="1100"/>
          </a:p>
        </p:txBody>
      </p:sp>
      <p:sp>
        <p:nvSpPr>
          <p:cNvPr id="140" name="Google Shape;140;p25"/>
          <p:cNvSpPr/>
          <p:nvPr/>
        </p:nvSpPr>
        <p:spPr>
          <a:xfrm>
            <a:off x="5658001" y="2091690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5987194" y="2091690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6316386" y="2091690"/>
            <a:ext cx="68582" cy="68580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6645579" y="2091690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6974772" y="2091690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7303965" y="2091690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7633157" y="2091690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5658001" y="2420874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5987194" y="2420874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6316386" y="2420874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6645579" y="2420874"/>
            <a:ext cx="68582" cy="68580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6974772" y="2420874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7303965" y="2420874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7633157" y="2420874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5658001" y="2750058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5987194" y="2750058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6316386" y="2750058"/>
            <a:ext cx="68582" cy="68580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645579" y="2750058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6974772" y="2750058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7303965" y="2750058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7633157" y="2750058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5658001" y="3079242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5987194" y="3079242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316386" y="3079242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6645579" y="3079242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6974772" y="3079242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7303965" y="3079242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7633157" y="3079242"/>
            <a:ext cx="109731" cy="109728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5658001" y="3408426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5987194" y="3408426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316386" y="3408426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6645579" y="3408426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6974772" y="3408426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7303965" y="3408426"/>
            <a:ext cx="109731" cy="109728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7633157" y="3408426"/>
            <a:ext cx="68582" cy="68580"/>
          </a:xfrm>
          <a:prstGeom prst="ellipse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5609994" y="3943350"/>
            <a:ext cx="2811854" cy="5349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C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795164" y="4059936"/>
            <a:ext cx="244151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DADOS  •  MODELO  •  DIAGNÓSTICO</a:t>
            </a:r>
            <a:endParaRPr sz="1100"/>
          </a:p>
        </p:txBody>
      </p:sp>
      <p:sp>
        <p:nvSpPr>
          <p:cNvPr id="177" name="Google Shape;177;p25"/>
          <p:cNvSpPr txBox="1"/>
          <p:nvPr/>
        </p:nvSpPr>
        <p:spPr>
          <a:xfrm>
            <a:off x="5795164" y="4238244"/>
            <a:ext cx="2441513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Dashboard executivo para tomada de decisão</a:t>
            </a:r>
            <a:endParaRPr sz="1100"/>
          </a:p>
        </p:txBody>
      </p:sp>
      <p:sp>
        <p:nvSpPr>
          <p:cNvPr id="178" name="Google Shape;178;p25"/>
          <p:cNvSpPr txBox="1"/>
          <p:nvPr/>
        </p:nvSpPr>
        <p:spPr>
          <a:xfrm>
            <a:off x="493789" y="4677156"/>
            <a:ext cx="4046328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JÉSSICA PRATA S. BORGES</a:t>
            </a:r>
            <a:endParaRPr sz="1100"/>
          </a:p>
        </p:txBody>
      </p:sp>
      <p:sp>
        <p:nvSpPr>
          <p:cNvPr id="179" name="Google Shape;179;p25"/>
          <p:cNvSpPr txBox="1"/>
          <p:nvPr/>
        </p:nvSpPr>
        <p:spPr>
          <a:xfrm>
            <a:off x="493789" y="4896612"/>
            <a:ext cx="4046328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C6D1DE"/>
                </a:solidFill>
                <a:latin typeface="Arial"/>
                <a:ea typeface="Arial"/>
                <a:cs typeface="Arial"/>
                <a:sym typeface="Arial"/>
              </a:rPr>
              <a:t>Dados &amp; Melhoria Contínua | Ciência de Dados</a:t>
            </a:r>
            <a:endParaRPr sz="1100"/>
          </a:p>
        </p:txBody>
      </p:sp>
      <p:sp>
        <p:nvSpPr>
          <p:cNvPr id="180" name="Google Shape;180;p25"/>
          <p:cNvSpPr/>
          <p:nvPr/>
        </p:nvSpPr>
        <p:spPr>
          <a:xfrm>
            <a:off x="0" y="5074920"/>
            <a:ext cx="9144015" cy="68580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0" y="0"/>
            <a:ext cx="9144015" cy="699516"/>
          </a:xfrm>
          <a:prstGeom prst="rect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425207" y="146886"/>
            <a:ext cx="514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Minha trajetória</a:t>
            </a:r>
            <a:endParaRPr sz="1100"/>
          </a:p>
        </p:txBody>
      </p:sp>
      <p:sp>
        <p:nvSpPr>
          <p:cNvPr id="187" name="Google Shape;187;p26"/>
          <p:cNvSpPr txBox="1"/>
          <p:nvPr/>
        </p:nvSpPr>
        <p:spPr>
          <a:xfrm>
            <a:off x="438924" y="441780"/>
            <a:ext cx="651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D2DCE7"/>
                </a:solidFill>
                <a:latin typeface="Arial"/>
                <a:ea typeface="Arial"/>
                <a:cs typeface="Arial"/>
                <a:sym typeface="Arial"/>
              </a:rPr>
              <a:t>Da experiência administrativa à atuação orientada por dados</a:t>
            </a:r>
            <a:endParaRPr sz="1100"/>
          </a:p>
        </p:txBody>
      </p:sp>
      <p:sp>
        <p:nvSpPr>
          <p:cNvPr id="188" name="Google Shape;188;p26"/>
          <p:cNvSpPr/>
          <p:nvPr/>
        </p:nvSpPr>
        <p:spPr>
          <a:xfrm>
            <a:off x="7509710" y="150876"/>
            <a:ext cx="1200182" cy="342900"/>
          </a:xfrm>
          <a:prstGeom prst="roundRect">
            <a:avLst>
              <a:gd fmla="val 16667" name="adj"/>
            </a:avLst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7612583" y="219456"/>
            <a:ext cx="99443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DADOS &amp; ANALYTICS</a:t>
            </a:r>
            <a:endParaRPr sz="1100"/>
          </a:p>
        </p:txBody>
      </p:sp>
      <p:sp>
        <p:nvSpPr>
          <p:cNvPr id="190" name="Google Shape;190;p26"/>
          <p:cNvSpPr txBox="1"/>
          <p:nvPr/>
        </p:nvSpPr>
        <p:spPr>
          <a:xfrm>
            <a:off x="452640" y="891540"/>
            <a:ext cx="5452255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Uma trajetória construída em três camadas</a:t>
            </a:r>
            <a:endParaRPr sz="1100"/>
          </a:p>
        </p:txBody>
      </p:sp>
      <p:sp>
        <p:nvSpPr>
          <p:cNvPr id="191" name="Google Shape;191;p26"/>
          <p:cNvSpPr txBox="1"/>
          <p:nvPr/>
        </p:nvSpPr>
        <p:spPr>
          <a:xfrm>
            <a:off x="459498" y="1186434"/>
            <a:ext cx="53836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negócio  •  experiência corporativa  •  análise de dados</a:t>
            </a:r>
            <a:endParaRPr sz="1100"/>
          </a:p>
        </p:txBody>
      </p:sp>
      <p:sp>
        <p:nvSpPr>
          <p:cNvPr id="192" name="Google Shape;192;p26"/>
          <p:cNvSpPr/>
          <p:nvPr/>
        </p:nvSpPr>
        <p:spPr>
          <a:xfrm>
            <a:off x="740684" y="1700784"/>
            <a:ext cx="34291" cy="2180844"/>
          </a:xfrm>
          <a:prstGeom prst="rect">
            <a:avLst/>
          </a:prstGeom>
          <a:solidFill>
            <a:srgbClr val="6880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624095" y="1625346"/>
            <a:ext cx="260611" cy="260604"/>
          </a:xfrm>
          <a:prstGeom prst="ellipse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1063018" y="1591056"/>
            <a:ext cx="8915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F5F80"/>
                </a:solidFill>
                <a:latin typeface="Arial"/>
                <a:ea typeface="Arial"/>
                <a:cs typeface="Arial"/>
                <a:sym typeface="Arial"/>
              </a:rPr>
              <a:t>2020–2021</a:t>
            </a:r>
            <a:endParaRPr sz="1100"/>
          </a:p>
        </p:txBody>
      </p:sp>
      <p:sp>
        <p:nvSpPr>
          <p:cNvPr id="195" name="Google Shape;195;p26"/>
          <p:cNvSpPr txBox="1"/>
          <p:nvPr/>
        </p:nvSpPr>
        <p:spPr>
          <a:xfrm>
            <a:off x="1934008" y="1584198"/>
            <a:ext cx="14745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Banco do Nordeste</a:t>
            </a:r>
            <a:endParaRPr sz="1100"/>
          </a:p>
        </p:txBody>
      </p:sp>
      <p:sp>
        <p:nvSpPr>
          <p:cNvPr id="196" name="Google Shape;196;p26"/>
          <p:cNvSpPr txBox="1"/>
          <p:nvPr/>
        </p:nvSpPr>
        <p:spPr>
          <a:xfrm>
            <a:off x="3346793" y="1584198"/>
            <a:ext cx="18517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A3644"/>
                </a:solidFill>
                <a:latin typeface="Arial"/>
                <a:ea typeface="Arial"/>
                <a:cs typeface="Arial"/>
                <a:sym typeface="Arial"/>
              </a:rPr>
              <a:t>Estágio Administrativo</a:t>
            </a:r>
            <a:endParaRPr sz="1100"/>
          </a:p>
        </p:txBody>
      </p:sp>
      <p:sp>
        <p:nvSpPr>
          <p:cNvPr id="197" name="Google Shape;197;p26"/>
          <p:cNvSpPr txBox="1"/>
          <p:nvPr/>
        </p:nvSpPr>
        <p:spPr>
          <a:xfrm>
            <a:off x="5088772" y="1584198"/>
            <a:ext cx="960146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Rotinas administrativas, controles financeiros e suporte interno.</a:t>
            </a:r>
            <a:endParaRPr sz="1100"/>
          </a:p>
        </p:txBody>
      </p:sp>
      <p:sp>
        <p:nvSpPr>
          <p:cNvPr id="198" name="Google Shape;198;p26"/>
          <p:cNvSpPr/>
          <p:nvPr/>
        </p:nvSpPr>
        <p:spPr>
          <a:xfrm>
            <a:off x="624095" y="2228850"/>
            <a:ext cx="260611" cy="260604"/>
          </a:xfrm>
          <a:prstGeom prst="ellipse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1063018" y="2194560"/>
            <a:ext cx="8915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F5F80"/>
                </a:solidFill>
                <a:latin typeface="Arial"/>
                <a:ea typeface="Arial"/>
                <a:cs typeface="Arial"/>
                <a:sym typeface="Arial"/>
              </a:rPr>
              <a:t>2022–2023</a:t>
            </a:r>
            <a:endParaRPr sz="1100"/>
          </a:p>
        </p:txBody>
      </p:sp>
      <p:sp>
        <p:nvSpPr>
          <p:cNvPr id="200" name="Google Shape;200;p26"/>
          <p:cNvSpPr txBox="1"/>
          <p:nvPr/>
        </p:nvSpPr>
        <p:spPr>
          <a:xfrm>
            <a:off x="1934008" y="2187702"/>
            <a:ext cx="14745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Banco Santander</a:t>
            </a:r>
            <a:endParaRPr sz="1100"/>
          </a:p>
        </p:txBody>
      </p:sp>
      <p:sp>
        <p:nvSpPr>
          <p:cNvPr id="201" name="Google Shape;201;p26"/>
          <p:cNvSpPr txBox="1"/>
          <p:nvPr/>
        </p:nvSpPr>
        <p:spPr>
          <a:xfrm>
            <a:off x="3346793" y="2187702"/>
            <a:ext cx="18517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A3644"/>
                </a:solidFill>
                <a:latin typeface="Arial"/>
                <a:ea typeface="Arial"/>
                <a:cs typeface="Arial"/>
                <a:sym typeface="Arial"/>
              </a:rPr>
              <a:t>Estágio Corporativo</a:t>
            </a:r>
            <a:endParaRPr sz="1100"/>
          </a:p>
        </p:txBody>
      </p:sp>
      <p:sp>
        <p:nvSpPr>
          <p:cNvPr id="202" name="Google Shape;202;p26"/>
          <p:cNvSpPr txBox="1"/>
          <p:nvPr/>
        </p:nvSpPr>
        <p:spPr>
          <a:xfrm>
            <a:off x="5088772" y="2187702"/>
            <a:ext cx="960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Relatórios, indicadores, Excel, CRM e apoio a análises de carteira.</a:t>
            </a:r>
            <a:endParaRPr sz="1100"/>
          </a:p>
        </p:txBody>
      </p:sp>
      <p:sp>
        <p:nvSpPr>
          <p:cNvPr id="203" name="Google Shape;203;p26"/>
          <p:cNvSpPr/>
          <p:nvPr/>
        </p:nvSpPr>
        <p:spPr>
          <a:xfrm>
            <a:off x="624095" y="2832354"/>
            <a:ext cx="260611" cy="260604"/>
          </a:xfrm>
          <a:prstGeom prst="ellipse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1063018" y="2798064"/>
            <a:ext cx="8915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F5F80"/>
                </a:solidFill>
                <a:latin typeface="Arial"/>
                <a:ea typeface="Arial"/>
                <a:cs typeface="Arial"/>
                <a:sym typeface="Arial"/>
              </a:rPr>
              <a:t>2023–2024</a:t>
            </a:r>
            <a:endParaRPr sz="1100"/>
          </a:p>
        </p:txBody>
      </p:sp>
      <p:sp>
        <p:nvSpPr>
          <p:cNvPr id="205" name="Google Shape;205;p26"/>
          <p:cNvSpPr txBox="1"/>
          <p:nvPr/>
        </p:nvSpPr>
        <p:spPr>
          <a:xfrm>
            <a:off x="1934008" y="2791206"/>
            <a:ext cx="14745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Banco Santander</a:t>
            </a:r>
            <a:endParaRPr sz="1100"/>
          </a:p>
        </p:txBody>
      </p:sp>
      <p:sp>
        <p:nvSpPr>
          <p:cNvPr id="206" name="Google Shape;206;p26"/>
          <p:cNvSpPr txBox="1"/>
          <p:nvPr/>
        </p:nvSpPr>
        <p:spPr>
          <a:xfrm>
            <a:off x="3346793" y="2791206"/>
            <a:ext cx="18517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A3644"/>
                </a:solidFill>
                <a:latin typeface="Arial"/>
                <a:ea typeface="Arial"/>
                <a:cs typeface="Arial"/>
                <a:sym typeface="Arial"/>
              </a:rPr>
              <a:t>ENS II</a:t>
            </a:r>
            <a:endParaRPr sz="1100"/>
          </a:p>
        </p:txBody>
      </p:sp>
      <p:sp>
        <p:nvSpPr>
          <p:cNvPr id="207" name="Google Shape;207;p26"/>
          <p:cNvSpPr txBox="1"/>
          <p:nvPr/>
        </p:nvSpPr>
        <p:spPr>
          <a:xfrm>
            <a:off x="5088772" y="2791206"/>
            <a:ext cx="960146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Gestão de carteira PF/MEI, crédito, investimentos, risco e indicadores.</a:t>
            </a:r>
            <a:endParaRPr sz="1100"/>
          </a:p>
        </p:txBody>
      </p:sp>
      <p:sp>
        <p:nvSpPr>
          <p:cNvPr id="208" name="Google Shape;208;p26"/>
          <p:cNvSpPr/>
          <p:nvPr/>
        </p:nvSpPr>
        <p:spPr>
          <a:xfrm>
            <a:off x="624095" y="3435858"/>
            <a:ext cx="260611" cy="260604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1063018" y="3401568"/>
            <a:ext cx="89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64277"/>
                </a:solidFill>
                <a:latin typeface="Arial"/>
                <a:ea typeface="Arial"/>
                <a:cs typeface="Arial"/>
                <a:sym typeface="Arial"/>
              </a:rPr>
              <a:t>2025–Atual</a:t>
            </a:r>
            <a:endParaRPr sz="1100"/>
          </a:p>
        </p:txBody>
      </p:sp>
      <p:sp>
        <p:nvSpPr>
          <p:cNvPr id="210" name="Google Shape;210;p26"/>
          <p:cNvSpPr txBox="1"/>
          <p:nvPr/>
        </p:nvSpPr>
        <p:spPr>
          <a:xfrm>
            <a:off x="1934008" y="3394710"/>
            <a:ext cx="147450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Grupo Boticário</a:t>
            </a:r>
            <a:endParaRPr sz="1100"/>
          </a:p>
        </p:txBody>
      </p:sp>
      <p:sp>
        <p:nvSpPr>
          <p:cNvPr id="211" name="Google Shape;211;p26"/>
          <p:cNvSpPr txBox="1"/>
          <p:nvPr/>
        </p:nvSpPr>
        <p:spPr>
          <a:xfrm>
            <a:off x="3346793" y="3394710"/>
            <a:ext cx="18517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A3644"/>
                </a:solidFill>
                <a:latin typeface="Arial"/>
                <a:ea typeface="Arial"/>
                <a:cs typeface="Arial"/>
                <a:sym typeface="Arial"/>
              </a:rPr>
              <a:t>Dados e Melhoria Contínua</a:t>
            </a:r>
            <a:endParaRPr sz="1100"/>
          </a:p>
        </p:txBody>
      </p:sp>
      <p:sp>
        <p:nvSpPr>
          <p:cNvPr id="212" name="Google Shape;212;p26"/>
          <p:cNvSpPr txBox="1"/>
          <p:nvPr/>
        </p:nvSpPr>
        <p:spPr>
          <a:xfrm>
            <a:off x="5088772" y="3394710"/>
            <a:ext cx="960146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SQL, BigQuery, Looker Studio, automações, IA e soluções orientadas a dados.</a:t>
            </a:r>
            <a:endParaRPr sz="1100"/>
          </a:p>
        </p:txBody>
      </p:sp>
      <p:sp>
        <p:nvSpPr>
          <p:cNvPr id="213" name="Google Shape;213;p26"/>
          <p:cNvSpPr/>
          <p:nvPr/>
        </p:nvSpPr>
        <p:spPr>
          <a:xfrm>
            <a:off x="6378110" y="877824"/>
            <a:ext cx="2331782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C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6583856" y="1083564"/>
            <a:ext cx="186542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O que trouxe para dados</a:t>
            </a:r>
            <a:endParaRPr sz="1100"/>
          </a:p>
        </p:txBody>
      </p:sp>
      <p:sp>
        <p:nvSpPr>
          <p:cNvPr id="215" name="Google Shape;215;p26"/>
          <p:cNvSpPr/>
          <p:nvPr/>
        </p:nvSpPr>
        <p:spPr>
          <a:xfrm>
            <a:off x="6583856" y="1426464"/>
            <a:ext cx="377200" cy="219456"/>
          </a:xfrm>
          <a:prstGeom prst="roundRect">
            <a:avLst>
              <a:gd fmla="val 16667" name="adj"/>
            </a:avLst>
          </a:prstGeom>
          <a:solidFill>
            <a:srgbClr val="3F5F8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6583856" y="1457325"/>
            <a:ext cx="377200" cy="11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17" name="Google Shape;217;p26"/>
          <p:cNvSpPr txBox="1"/>
          <p:nvPr/>
        </p:nvSpPr>
        <p:spPr>
          <a:xfrm>
            <a:off x="7050212" y="1423035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ADMINISTRAÇÃO</a:t>
            </a:r>
            <a:endParaRPr sz="1100"/>
          </a:p>
        </p:txBody>
      </p:sp>
      <p:sp>
        <p:nvSpPr>
          <p:cNvPr id="218" name="Google Shape;218;p26"/>
          <p:cNvSpPr txBox="1"/>
          <p:nvPr/>
        </p:nvSpPr>
        <p:spPr>
          <a:xfrm>
            <a:off x="7050212" y="1597914"/>
            <a:ext cx="1440218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Visão de processos, controles e organização.</a:t>
            </a:r>
            <a:endParaRPr sz="1100"/>
          </a:p>
        </p:txBody>
      </p:sp>
      <p:sp>
        <p:nvSpPr>
          <p:cNvPr id="219" name="Google Shape;219;p26"/>
          <p:cNvSpPr/>
          <p:nvPr/>
        </p:nvSpPr>
        <p:spPr>
          <a:xfrm>
            <a:off x="6583856" y="2057400"/>
            <a:ext cx="377200" cy="219456"/>
          </a:xfrm>
          <a:prstGeom prst="roundRect">
            <a:avLst>
              <a:gd fmla="val 16667" name="adj"/>
            </a:avLst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6583856" y="2088261"/>
            <a:ext cx="377200" cy="11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21" name="Google Shape;221;p26"/>
          <p:cNvSpPr txBox="1"/>
          <p:nvPr/>
        </p:nvSpPr>
        <p:spPr>
          <a:xfrm>
            <a:off x="7050212" y="2053971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NEGÓCIO</a:t>
            </a:r>
            <a:endParaRPr sz="1100"/>
          </a:p>
        </p:txBody>
      </p:sp>
      <p:sp>
        <p:nvSpPr>
          <p:cNvPr id="222" name="Google Shape;222;p26"/>
          <p:cNvSpPr txBox="1"/>
          <p:nvPr/>
        </p:nvSpPr>
        <p:spPr>
          <a:xfrm>
            <a:off x="7050212" y="2228850"/>
            <a:ext cx="1440218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Experiência em operação, indicadores, crédito e risco.</a:t>
            </a:r>
            <a:endParaRPr sz="1100"/>
          </a:p>
        </p:txBody>
      </p:sp>
      <p:sp>
        <p:nvSpPr>
          <p:cNvPr id="223" name="Google Shape;223;p26"/>
          <p:cNvSpPr/>
          <p:nvPr/>
        </p:nvSpPr>
        <p:spPr>
          <a:xfrm>
            <a:off x="6583856" y="2688336"/>
            <a:ext cx="377200" cy="219456"/>
          </a:xfrm>
          <a:prstGeom prst="roundRect">
            <a:avLst>
              <a:gd fmla="val 16667" name="adj"/>
            </a:avLst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6583856" y="2719197"/>
            <a:ext cx="377200" cy="11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25" name="Google Shape;225;p26"/>
          <p:cNvSpPr txBox="1"/>
          <p:nvPr/>
        </p:nvSpPr>
        <p:spPr>
          <a:xfrm>
            <a:off x="7050212" y="2684907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sz="1100"/>
          </a:p>
        </p:txBody>
      </p:sp>
      <p:sp>
        <p:nvSpPr>
          <p:cNvPr id="226" name="Google Shape;226;p26"/>
          <p:cNvSpPr txBox="1"/>
          <p:nvPr/>
        </p:nvSpPr>
        <p:spPr>
          <a:xfrm>
            <a:off x="7050212" y="2859786"/>
            <a:ext cx="1440218" cy="294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SQL, BigQuery, BI, automação e investigação analítica.</a:t>
            </a:r>
            <a:endParaRPr sz="1100"/>
          </a:p>
        </p:txBody>
      </p:sp>
      <p:sp>
        <p:nvSpPr>
          <p:cNvPr id="227" name="Google Shape;227;p26"/>
          <p:cNvSpPr/>
          <p:nvPr/>
        </p:nvSpPr>
        <p:spPr>
          <a:xfrm>
            <a:off x="452640" y="4183380"/>
            <a:ext cx="8257252" cy="617220"/>
          </a:xfrm>
          <a:prstGeom prst="roundRect">
            <a:avLst>
              <a:gd fmla="val 16667" name="adj"/>
            </a:avLst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630953" y="4320540"/>
            <a:ext cx="12344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CREDENCIAIS</a:t>
            </a:r>
            <a:endParaRPr sz="1100"/>
          </a:p>
        </p:txBody>
      </p:sp>
      <p:sp>
        <p:nvSpPr>
          <p:cNvPr id="229" name="Google Shape;229;p26"/>
          <p:cNvSpPr txBox="1"/>
          <p:nvPr/>
        </p:nvSpPr>
        <p:spPr>
          <a:xfrm>
            <a:off x="630953" y="4491990"/>
            <a:ext cx="14059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D3DCE6"/>
                </a:solidFill>
                <a:latin typeface="Arial"/>
                <a:ea typeface="Arial"/>
                <a:cs typeface="Arial"/>
                <a:sym typeface="Arial"/>
              </a:rPr>
              <a:t>Google Cloud</a:t>
            </a:r>
            <a:endParaRPr sz="1100"/>
          </a:p>
        </p:txBody>
      </p:sp>
      <p:sp>
        <p:nvSpPr>
          <p:cNvPr id="230" name="Google Shape;230;p26"/>
          <p:cNvSpPr/>
          <p:nvPr/>
        </p:nvSpPr>
        <p:spPr>
          <a:xfrm>
            <a:off x="2091746" y="4272534"/>
            <a:ext cx="2914728" cy="3977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2201477" y="4368546"/>
            <a:ext cx="171455" cy="171450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2208335" y="4378833"/>
            <a:ext cx="157738" cy="8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/>
          </a:p>
        </p:txBody>
      </p:sp>
      <p:sp>
        <p:nvSpPr>
          <p:cNvPr id="233" name="Google Shape;233;p26"/>
          <p:cNvSpPr txBox="1"/>
          <p:nvPr/>
        </p:nvSpPr>
        <p:spPr>
          <a:xfrm>
            <a:off x="2448371" y="4313682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Data Analytics in Google Cloud</a:t>
            </a:r>
            <a:endParaRPr sz="1100"/>
          </a:p>
        </p:txBody>
      </p:sp>
      <p:sp>
        <p:nvSpPr>
          <p:cNvPr id="234" name="Google Shape;234;p26"/>
          <p:cNvSpPr txBox="1"/>
          <p:nvPr/>
        </p:nvSpPr>
        <p:spPr>
          <a:xfrm>
            <a:off x="2448371" y="4457700"/>
            <a:ext cx="24003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Google Cloud Skills Boost</a:t>
            </a:r>
            <a:endParaRPr sz="1100"/>
          </a:p>
        </p:txBody>
      </p:sp>
      <p:sp>
        <p:nvSpPr>
          <p:cNvPr id="235" name="Google Shape;235;p26"/>
          <p:cNvSpPr/>
          <p:nvPr/>
        </p:nvSpPr>
        <p:spPr>
          <a:xfrm>
            <a:off x="5294517" y="4272534"/>
            <a:ext cx="2914728" cy="3977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404248" y="4368546"/>
            <a:ext cx="171455" cy="171450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5411106" y="4378833"/>
            <a:ext cx="157738" cy="8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/>
          </a:p>
        </p:txBody>
      </p:sp>
      <p:sp>
        <p:nvSpPr>
          <p:cNvPr id="238" name="Google Shape;238;p26"/>
          <p:cNvSpPr txBox="1"/>
          <p:nvPr/>
        </p:nvSpPr>
        <p:spPr>
          <a:xfrm>
            <a:off x="5651143" y="4313682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Creating Data Lakes and Data Warehouses in Google Cloud</a:t>
            </a:r>
            <a:endParaRPr sz="1100"/>
          </a:p>
        </p:txBody>
      </p:sp>
      <p:sp>
        <p:nvSpPr>
          <p:cNvPr id="239" name="Google Shape;239;p26"/>
          <p:cNvSpPr txBox="1"/>
          <p:nvPr/>
        </p:nvSpPr>
        <p:spPr>
          <a:xfrm>
            <a:off x="5651143" y="4537376"/>
            <a:ext cx="2400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Google Cloud Skills Boost</a:t>
            </a:r>
            <a:endParaRPr sz="1100"/>
          </a:p>
        </p:txBody>
      </p:sp>
      <p:sp>
        <p:nvSpPr>
          <p:cNvPr id="240" name="Google Shape;240;p26"/>
          <p:cNvSpPr txBox="1"/>
          <p:nvPr/>
        </p:nvSpPr>
        <p:spPr>
          <a:xfrm>
            <a:off x="466356" y="4903470"/>
            <a:ext cx="8229819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97482"/>
                </a:solidFill>
                <a:latin typeface="Arial"/>
                <a:ea typeface="Arial"/>
                <a:cs typeface="Arial"/>
                <a:sym typeface="Arial"/>
              </a:rPr>
              <a:t>Jéssica Prata S. Borges  •  Case Dados &amp; Analytics</a:t>
            </a:r>
            <a:endParaRPr sz="1100"/>
          </a:p>
        </p:txBody>
      </p:sp>
      <p:sp>
        <p:nvSpPr>
          <p:cNvPr id="241" name="Google Shape;241;p26"/>
          <p:cNvSpPr txBox="1"/>
          <p:nvPr/>
        </p:nvSpPr>
        <p:spPr>
          <a:xfrm>
            <a:off x="8051458" y="4874058"/>
            <a:ext cx="150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GRUPO BOTICÁRIO</a:t>
            </a:r>
            <a:endParaRPr sz="1100">
              <a:solidFill>
                <a:srgbClr val="1225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>
            <a:off x="0" y="0"/>
            <a:ext cx="9144015" cy="356616"/>
            <a:chOff x="0" y="0"/>
            <a:chExt cx="9144015" cy="356616"/>
          </a:xfrm>
        </p:grpSpPr>
        <p:sp>
          <p:nvSpPr>
            <p:cNvPr id="247" name="Google Shape;247;p27"/>
            <p:cNvSpPr/>
            <p:nvPr/>
          </p:nvSpPr>
          <p:spPr>
            <a:xfrm>
              <a:off x="0" y="0"/>
              <a:ext cx="9144015" cy="356616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7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  <p:sp>
        <p:nvSpPr>
          <p:cNvPr id="249" name="Google Shape;249;p27"/>
          <p:cNvSpPr txBox="1"/>
          <p:nvPr/>
        </p:nvSpPr>
        <p:spPr>
          <a:xfrm>
            <a:off x="493789" y="603504"/>
            <a:ext cx="493789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0B2748"/>
                </a:solidFill>
                <a:latin typeface="Arial"/>
                <a:ea typeface="Arial"/>
                <a:cs typeface="Arial"/>
                <a:sym typeface="Arial"/>
              </a:rPr>
              <a:t>O desafio do negócio</a:t>
            </a:r>
            <a:endParaRPr sz="1100"/>
          </a:p>
        </p:txBody>
      </p:sp>
      <p:sp>
        <p:nvSpPr>
          <p:cNvPr id="250" name="Google Shape;250;p27"/>
          <p:cNvSpPr txBox="1"/>
          <p:nvPr/>
        </p:nvSpPr>
        <p:spPr>
          <a:xfrm>
            <a:off x="514364" y="1049274"/>
            <a:ext cx="80240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B648C"/>
                </a:solidFill>
                <a:latin typeface="Arial"/>
                <a:ea typeface="Arial"/>
                <a:cs typeface="Arial"/>
                <a:sym typeface="Arial"/>
              </a:rPr>
              <a:t>Do dado operacional ao diagnóstico do canal de Venda Direta</a:t>
            </a:r>
            <a:endParaRPr sz="1100"/>
          </a:p>
        </p:txBody>
      </p:sp>
      <p:sp>
        <p:nvSpPr>
          <p:cNvPr id="251" name="Google Shape;251;p27"/>
          <p:cNvSpPr/>
          <p:nvPr/>
        </p:nvSpPr>
        <p:spPr>
          <a:xfrm>
            <a:off x="493789" y="1563623"/>
            <a:ext cx="2811854" cy="25031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1C9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93789" y="1563623"/>
            <a:ext cx="68582" cy="2503170"/>
          </a:xfrm>
          <a:prstGeom prst="rect">
            <a:avLst/>
          </a:prstGeom>
          <a:solidFill>
            <a:srgbClr val="DA4977"/>
          </a:solidFill>
          <a:ln cap="flat" cmpd="sng" w="9525">
            <a:solidFill>
              <a:srgbClr val="DA49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699535" y="1796796"/>
            <a:ext cx="23660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4977"/>
                </a:solidFill>
                <a:latin typeface="Arial"/>
                <a:ea typeface="Arial"/>
                <a:cs typeface="Arial"/>
                <a:sym typeface="Arial"/>
              </a:rPr>
              <a:t>A PERGUNTA CENTRAL</a:t>
            </a:r>
            <a:endParaRPr sz="1100"/>
          </a:p>
        </p:txBody>
      </p:sp>
      <p:sp>
        <p:nvSpPr>
          <p:cNvPr id="254" name="Google Shape;254;p27"/>
          <p:cNvSpPr txBox="1"/>
          <p:nvPr/>
        </p:nvSpPr>
        <p:spPr>
          <a:xfrm>
            <a:off x="699535" y="2112264"/>
            <a:ext cx="2366073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0B2748"/>
                </a:solidFill>
                <a:latin typeface="Arial"/>
                <a:ea typeface="Arial"/>
                <a:cs typeface="Arial"/>
                <a:sym typeface="Arial"/>
              </a:rPr>
              <a:t>Como transformar diferentes fontes do canal em uma visão confiável de performance para o ciclo 2025-16?</a:t>
            </a:r>
            <a:endParaRPr sz="1100"/>
          </a:p>
        </p:txBody>
      </p:sp>
      <p:sp>
        <p:nvSpPr>
          <p:cNvPr id="255" name="Google Shape;255;p27"/>
          <p:cNvSpPr txBox="1"/>
          <p:nvPr/>
        </p:nvSpPr>
        <p:spPr>
          <a:xfrm>
            <a:off x="716697" y="3662184"/>
            <a:ext cx="2366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56F78"/>
                </a:solidFill>
                <a:latin typeface="Arial"/>
                <a:ea typeface="Arial"/>
                <a:cs typeface="Arial"/>
                <a:sym typeface="Arial"/>
              </a:rPr>
              <a:t>Diagnóstico • comparação • decisão</a:t>
            </a:r>
            <a:endParaRPr sz="1100"/>
          </a:p>
        </p:txBody>
      </p:sp>
      <p:sp>
        <p:nvSpPr>
          <p:cNvPr id="256" name="Google Shape;256;p27"/>
          <p:cNvSpPr/>
          <p:nvPr/>
        </p:nvSpPr>
        <p:spPr>
          <a:xfrm>
            <a:off x="3669128" y="1618488"/>
            <a:ext cx="329193" cy="329184"/>
          </a:xfrm>
          <a:prstGeom prst="ellipse">
            <a:avLst/>
          </a:prstGeom>
          <a:solidFill>
            <a:srgbClr val="0B2748"/>
          </a:solidFill>
          <a:ln cap="flat" cmpd="sng" w="9525">
            <a:solidFill>
              <a:srgbClr val="0B27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3744579" y="1680200"/>
            <a:ext cx="253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300"/>
          </a:p>
        </p:txBody>
      </p:sp>
      <p:sp>
        <p:nvSpPr>
          <p:cNvPr id="258" name="Google Shape;258;p27"/>
          <p:cNvSpPr txBox="1"/>
          <p:nvPr/>
        </p:nvSpPr>
        <p:spPr>
          <a:xfrm>
            <a:off x="4149201" y="1563623"/>
            <a:ext cx="13373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B2748"/>
                </a:solidFill>
                <a:latin typeface="Arial"/>
                <a:ea typeface="Arial"/>
                <a:cs typeface="Arial"/>
                <a:sym typeface="Arial"/>
              </a:rPr>
              <a:t>ESTRUTURAR</a:t>
            </a:r>
            <a:endParaRPr sz="1100"/>
          </a:p>
        </p:txBody>
      </p:sp>
      <p:sp>
        <p:nvSpPr>
          <p:cNvPr id="259" name="Google Shape;259;p27"/>
          <p:cNvSpPr txBox="1"/>
          <p:nvPr/>
        </p:nvSpPr>
        <p:spPr>
          <a:xfrm>
            <a:off x="4149201" y="1824227"/>
            <a:ext cx="394345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Organizar as fontes, validar granularidade, chaves e qualidade dos dados.</a:t>
            </a:r>
            <a:endParaRPr sz="1100"/>
          </a:p>
        </p:txBody>
      </p:sp>
      <p:cxnSp>
        <p:nvCxnSpPr>
          <p:cNvPr id="260" name="Google Shape;260;p27"/>
          <p:cNvCxnSpPr/>
          <p:nvPr/>
        </p:nvCxnSpPr>
        <p:spPr>
          <a:xfrm>
            <a:off x="3833724" y="1947672"/>
            <a:ext cx="0" cy="466343"/>
          </a:xfrm>
          <a:prstGeom prst="straightConnector1">
            <a:avLst/>
          </a:prstGeom>
          <a:noFill/>
          <a:ln cap="flat" cmpd="sng" w="15225">
            <a:solidFill>
              <a:srgbClr val="C1C9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1" name="Google Shape;261;p27"/>
          <p:cNvSpPr/>
          <p:nvPr/>
        </p:nvSpPr>
        <p:spPr>
          <a:xfrm>
            <a:off x="3669128" y="2475738"/>
            <a:ext cx="329193" cy="329184"/>
          </a:xfrm>
          <a:prstGeom prst="ellipse">
            <a:avLst/>
          </a:prstGeom>
          <a:solidFill>
            <a:srgbClr val="0B2748"/>
          </a:solidFill>
          <a:ln cap="flat" cmpd="sng" w="9525">
            <a:solidFill>
              <a:srgbClr val="0B27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3744579" y="2537450"/>
            <a:ext cx="253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00"/>
          </a:p>
        </p:txBody>
      </p:sp>
      <p:sp>
        <p:nvSpPr>
          <p:cNvPr id="263" name="Google Shape;263;p27"/>
          <p:cNvSpPr txBox="1"/>
          <p:nvPr/>
        </p:nvSpPr>
        <p:spPr>
          <a:xfrm>
            <a:off x="4149201" y="2420874"/>
            <a:ext cx="13373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B2748"/>
                </a:solidFill>
                <a:latin typeface="Arial"/>
                <a:ea typeface="Arial"/>
                <a:cs typeface="Arial"/>
                <a:sym typeface="Arial"/>
              </a:rPr>
              <a:t>ANALISAR</a:t>
            </a:r>
            <a:endParaRPr sz="1100"/>
          </a:p>
        </p:txBody>
      </p:sp>
      <p:sp>
        <p:nvSpPr>
          <p:cNvPr id="264" name="Google Shape;264;p27"/>
          <p:cNvSpPr txBox="1"/>
          <p:nvPr/>
        </p:nvSpPr>
        <p:spPr>
          <a:xfrm>
            <a:off x="4149201" y="2681477"/>
            <a:ext cx="3943455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Aplicar regras de negócio e comparar realizado, orçamento, população e produtividade.</a:t>
            </a:r>
            <a:endParaRPr sz="1100"/>
          </a:p>
        </p:txBody>
      </p:sp>
      <p:cxnSp>
        <p:nvCxnSpPr>
          <p:cNvPr id="265" name="Google Shape;265;p27"/>
          <p:cNvCxnSpPr/>
          <p:nvPr/>
        </p:nvCxnSpPr>
        <p:spPr>
          <a:xfrm>
            <a:off x="3833724" y="2804922"/>
            <a:ext cx="0" cy="466344"/>
          </a:xfrm>
          <a:prstGeom prst="straightConnector1">
            <a:avLst/>
          </a:prstGeom>
          <a:noFill/>
          <a:ln cap="flat" cmpd="sng" w="15225">
            <a:solidFill>
              <a:srgbClr val="C1C9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6" name="Google Shape;266;p27"/>
          <p:cNvSpPr/>
          <p:nvPr/>
        </p:nvSpPr>
        <p:spPr>
          <a:xfrm>
            <a:off x="3669128" y="3332987"/>
            <a:ext cx="329193" cy="329184"/>
          </a:xfrm>
          <a:prstGeom prst="ellipse">
            <a:avLst/>
          </a:prstGeom>
          <a:solidFill>
            <a:srgbClr val="DA4977"/>
          </a:solidFill>
          <a:ln cap="flat" cmpd="sng" w="9525">
            <a:solidFill>
              <a:srgbClr val="DA49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3744579" y="3394700"/>
            <a:ext cx="253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300"/>
          </a:p>
        </p:txBody>
      </p:sp>
      <p:sp>
        <p:nvSpPr>
          <p:cNvPr id="268" name="Google Shape;268;p27"/>
          <p:cNvSpPr txBox="1"/>
          <p:nvPr/>
        </p:nvSpPr>
        <p:spPr>
          <a:xfrm>
            <a:off x="4149201" y="3278123"/>
            <a:ext cx="13373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B2748"/>
                </a:solidFill>
                <a:latin typeface="Arial"/>
                <a:ea typeface="Arial"/>
                <a:cs typeface="Arial"/>
                <a:sym typeface="Arial"/>
              </a:rPr>
              <a:t>COMUNICAR</a:t>
            </a:r>
            <a:endParaRPr sz="1100"/>
          </a:p>
        </p:txBody>
      </p:sp>
      <p:sp>
        <p:nvSpPr>
          <p:cNvPr id="269" name="Google Shape;269;p27"/>
          <p:cNvSpPr txBox="1"/>
          <p:nvPr/>
        </p:nvSpPr>
        <p:spPr>
          <a:xfrm>
            <a:off x="4149201" y="3529874"/>
            <a:ext cx="3943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Transformar os achados em um dashboard executivo com aprendizados, pontos de atenção e hipóteses.</a:t>
            </a:r>
            <a:endParaRPr sz="1100"/>
          </a:p>
        </p:txBody>
      </p:sp>
      <p:sp>
        <p:nvSpPr>
          <p:cNvPr id="270" name="Google Shape;270;p27"/>
          <p:cNvSpPr/>
          <p:nvPr/>
        </p:nvSpPr>
        <p:spPr>
          <a:xfrm>
            <a:off x="3669150" y="4069046"/>
            <a:ext cx="4972200" cy="329100"/>
          </a:xfrm>
          <a:prstGeom prst="roundRect">
            <a:avLst>
              <a:gd fmla="val 16667" name="adj"/>
            </a:avLst>
          </a:prstGeom>
          <a:solidFill>
            <a:srgbClr val="16375C"/>
          </a:solidFill>
          <a:ln cap="flat" cmpd="sng" w="9525">
            <a:solidFill>
              <a:srgbClr val="1637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3874898" y="4120472"/>
            <a:ext cx="456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fontes  •  1 visão analítica  •  1 dashboard para decisão</a:t>
            </a:r>
            <a:endParaRPr sz="1100"/>
          </a:p>
        </p:txBody>
      </p:sp>
      <p:sp>
        <p:nvSpPr>
          <p:cNvPr id="272" name="Google Shape;272;p27"/>
          <p:cNvSpPr txBox="1"/>
          <p:nvPr/>
        </p:nvSpPr>
        <p:spPr>
          <a:xfrm>
            <a:off x="514364" y="4677156"/>
            <a:ext cx="80240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56F78"/>
                </a:solidFill>
                <a:latin typeface="Arial"/>
                <a:ea typeface="Arial"/>
                <a:cs typeface="Arial"/>
                <a:sym typeface="Arial"/>
              </a:rPr>
              <a:t>Objetivo: diagnosticar a performance do canal em 2025 e aprofundar o ciclo 2025-16.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/>
        </p:nvSpPr>
        <p:spPr>
          <a:xfrm>
            <a:off x="445744" y="506911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D2743"/>
                </a:solidFill>
              </a:rPr>
              <a:t>Pipeline de Dados | </a:t>
            </a: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Tratamento orientado por qualidade, granularidade e regras de negócio I D</a:t>
            </a:r>
            <a:r>
              <a:rPr b="1" lang="pt-BR" sz="1200">
                <a:solidFill>
                  <a:srgbClr val="0D2743"/>
                </a:solidFill>
              </a:rPr>
              <a:t>o RAW à Visão</a:t>
            </a:r>
            <a:endParaRPr sz="1100"/>
          </a:p>
        </p:txBody>
      </p:sp>
      <p:sp>
        <p:nvSpPr>
          <p:cNvPr id="278" name="Google Shape;278;p28"/>
          <p:cNvSpPr txBox="1"/>
          <p:nvPr/>
        </p:nvSpPr>
        <p:spPr>
          <a:xfrm>
            <a:off x="445782" y="918972"/>
            <a:ext cx="82298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 jornada preserva o dado operacional e transforma as fontes em uma camada analítica única.</a:t>
            </a:r>
            <a:endParaRPr sz="1100"/>
          </a:p>
        </p:txBody>
      </p:sp>
      <p:sp>
        <p:nvSpPr>
          <p:cNvPr id="279" name="Google Shape;279;p28"/>
          <p:cNvSpPr txBox="1"/>
          <p:nvPr/>
        </p:nvSpPr>
        <p:spPr>
          <a:xfrm>
            <a:off x="466356" y="1289304"/>
            <a:ext cx="150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FONTES DE DADOS</a:t>
            </a:r>
            <a:endParaRPr sz="1100"/>
          </a:p>
        </p:txBody>
      </p:sp>
      <p:sp>
        <p:nvSpPr>
          <p:cNvPr id="280" name="Google Shape;280;p28"/>
          <p:cNvSpPr/>
          <p:nvPr/>
        </p:nvSpPr>
        <p:spPr>
          <a:xfrm>
            <a:off x="466356" y="1508760"/>
            <a:ext cx="1543091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548655" y="157734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TB_PEDIDOS</a:t>
            </a:r>
            <a:endParaRPr sz="1100"/>
          </a:p>
        </p:txBody>
      </p:sp>
      <p:sp>
        <p:nvSpPr>
          <p:cNvPr id="282" name="Google Shape;282;p28"/>
          <p:cNvSpPr txBox="1"/>
          <p:nvPr/>
        </p:nvSpPr>
        <p:spPr>
          <a:xfrm>
            <a:off x="548655" y="178308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Pedidos / GMV / volume</a:t>
            </a:r>
            <a:endParaRPr sz="1100"/>
          </a:p>
        </p:txBody>
      </p:sp>
      <p:sp>
        <p:nvSpPr>
          <p:cNvPr id="283" name="Google Shape;283;p28"/>
          <p:cNvSpPr/>
          <p:nvPr/>
        </p:nvSpPr>
        <p:spPr>
          <a:xfrm>
            <a:off x="2132895" y="1508760"/>
            <a:ext cx="1543091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2215193" y="157734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TB_BASE</a:t>
            </a:r>
            <a:endParaRPr sz="1100"/>
          </a:p>
        </p:txBody>
      </p:sp>
      <p:sp>
        <p:nvSpPr>
          <p:cNvPr id="285" name="Google Shape;285;p28"/>
          <p:cNvSpPr txBox="1"/>
          <p:nvPr/>
        </p:nvSpPr>
        <p:spPr>
          <a:xfrm>
            <a:off x="2215193" y="178308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Base e movimentação</a:t>
            </a:r>
            <a:endParaRPr sz="1100"/>
          </a:p>
        </p:txBody>
      </p:sp>
      <p:sp>
        <p:nvSpPr>
          <p:cNvPr id="286" name="Google Shape;286;p28"/>
          <p:cNvSpPr/>
          <p:nvPr/>
        </p:nvSpPr>
        <p:spPr>
          <a:xfrm>
            <a:off x="3799433" y="1508760"/>
            <a:ext cx="1543091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3881731" y="157734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TB_MATERIAIS</a:t>
            </a:r>
            <a:endParaRPr sz="1100"/>
          </a:p>
        </p:txBody>
      </p:sp>
      <p:sp>
        <p:nvSpPr>
          <p:cNvPr id="288" name="Google Shape;288;p28"/>
          <p:cNvSpPr txBox="1"/>
          <p:nvPr/>
        </p:nvSpPr>
        <p:spPr>
          <a:xfrm>
            <a:off x="3881731" y="178308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SKU / marca / categoria</a:t>
            </a:r>
            <a:endParaRPr sz="1100"/>
          </a:p>
        </p:txBody>
      </p:sp>
      <p:sp>
        <p:nvSpPr>
          <p:cNvPr id="289" name="Google Shape;289;p28"/>
          <p:cNvSpPr/>
          <p:nvPr/>
        </p:nvSpPr>
        <p:spPr>
          <a:xfrm>
            <a:off x="5465972" y="1508760"/>
            <a:ext cx="1543091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548270" y="157734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TB_CADASTRO</a:t>
            </a:r>
            <a:endParaRPr sz="1100"/>
          </a:p>
        </p:txBody>
      </p:sp>
      <p:sp>
        <p:nvSpPr>
          <p:cNvPr id="291" name="Google Shape;291;p28"/>
          <p:cNvSpPr txBox="1"/>
          <p:nvPr/>
        </p:nvSpPr>
        <p:spPr>
          <a:xfrm>
            <a:off x="5548270" y="178308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Revendedora / cadastro</a:t>
            </a:r>
            <a:endParaRPr sz="1100"/>
          </a:p>
        </p:txBody>
      </p:sp>
      <p:sp>
        <p:nvSpPr>
          <p:cNvPr id="292" name="Google Shape;292;p28"/>
          <p:cNvSpPr/>
          <p:nvPr/>
        </p:nvSpPr>
        <p:spPr>
          <a:xfrm>
            <a:off x="7132510" y="1508760"/>
            <a:ext cx="1543091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7214808" y="157734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TB_ORÇAMENTO</a:t>
            </a:r>
            <a:endParaRPr sz="1100"/>
          </a:p>
        </p:txBody>
      </p:sp>
      <p:sp>
        <p:nvSpPr>
          <p:cNvPr id="294" name="Google Shape;294;p28"/>
          <p:cNvSpPr txBox="1"/>
          <p:nvPr/>
        </p:nvSpPr>
        <p:spPr>
          <a:xfrm>
            <a:off x="7214808" y="1783080"/>
            <a:ext cx="13784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Planejado por ciclo</a:t>
            </a:r>
            <a:endParaRPr sz="1100"/>
          </a:p>
        </p:txBody>
      </p:sp>
      <p:cxnSp>
        <p:nvCxnSpPr>
          <p:cNvPr id="295" name="Google Shape;295;p28"/>
          <p:cNvCxnSpPr/>
          <p:nvPr/>
        </p:nvCxnSpPr>
        <p:spPr>
          <a:xfrm>
            <a:off x="1234473" y="2112264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75B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6" name="Google Shape;296;p28"/>
          <p:cNvCxnSpPr/>
          <p:nvPr/>
        </p:nvCxnSpPr>
        <p:spPr>
          <a:xfrm>
            <a:off x="2983309" y="2112264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75B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7" name="Google Shape;297;p28"/>
          <p:cNvCxnSpPr/>
          <p:nvPr/>
        </p:nvCxnSpPr>
        <p:spPr>
          <a:xfrm>
            <a:off x="4732146" y="2112264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75B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8" name="Google Shape;298;p28"/>
          <p:cNvCxnSpPr/>
          <p:nvPr/>
        </p:nvCxnSpPr>
        <p:spPr>
          <a:xfrm>
            <a:off x="6480983" y="2112264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75B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9" name="Google Shape;299;p28"/>
          <p:cNvCxnSpPr/>
          <p:nvPr/>
        </p:nvCxnSpPr>
        <p:spPr>
          <a:xfrm>
            <a:off x="8229819" y="2112264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275B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0" name="Google Shape;300;p28"/>
          <p:cNvSpPr/>
          <p:nvPr/>
        </p:nvSpPr>
        <p:spPr>
          <a:xfrm>
            <a:off x="466356" y="2386584"/>
            <a:ext cx="1543091" cy="932688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548655" y="2455164"/>
            <a:ext cx="26061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302" name="Google Shape;302;p28"/>
          <p:cNvSpPr txBox="1"/>
          <p:nvPr/>
        </p:nvSpPr>
        <p:spPr>
          <a:xfrm>
            <a:off x="548655" y="2640330"/>
            <a:ext cx="13784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AUDITAR</a:t>
            </a:r>
            <a:endParaRPr sz="1100"/>
          </a:p>
        </p:txBody>
      </p:sp>
      <p:sp>
        <p:nvSpPr>
          <p:cNvPr id="303" name="Google Shape;303;p28"/>
          <p:cNvSpPr txBox="1"/>
          <p:nvPr/>
        </p:nvSpPr>
        <p:spPr>
          <a:xfrm>
            <a:off x="548655" y="2880360"/>
            <a:ext cx="137849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Granularidade, chaves,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completude e integridade</a:t>
            </a:r>
            <a:endParaRPr sz="1100"/>
          </a:p>
        </p:txBody>
      </p:sp>
      <p:sp>
        <p:nvSpPr>
          <p:cNvPr id="304" name="Google Shape;304;p28"/>
          <p:cNvSpPr/>
          <p:nvPr/>
        </p:nvSpPr>
        <p:spPr>
          <a:xfrm>
            <a:off x="2132895" y="2386584"/>
            <a:ext cx="1543091" cy="932688"/>
          </a:xfrm>
          <a:prstGeom prst="roundRect">
            <a:avLst>
              <a:gd fmla="val 16667" name="adj"/>
            </a:avLst>
          </a:prstGeom>
          <a:solidFill>
            <a:srgbClr val="275B8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2215193" y="2455164"/>
            <a:ext cx="26061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306" name="Google Shape;306;p28"/>
          <p:cNvSpPr txBox="1"/>
          <p:nvPr/>
        </p:nvSpPr>
        <p:spPr>
          <a:xfrm>
            <a:off x="2215193" y="2640330"/>
            <a:ext cx="13784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TRATAR</a:t>
            </a:r>
            <a:endParaRPr sz="1100"/>
          </a:p>
        </p:txBody>
      </p:sp>
      <p:sp>
        <p:nvSpPr>
          <p:cNvPr id="307" name="Google Shape;307;p28"/>
          <p:cNvSpPr txBox="1"/>
          <p:nvPr/>
        </p:nvSpPr>
        <p:spPr>
          <a:xfrm>
            <a:off x="2215193" y="2880360"/>
            <a:ext cx="137849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Limpeza e padronização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 alterar o sentido do dado</a:t>
            </a:r>
            <a:endParaRPr sz="1100"/>
          </a:p>
        </p:txBody>
      </p:sp>
      <p:sp>
        <p:nvSpPr>
          <p:cNvPr id="308" name="Google Shape;308;p28"/>
          <p:cNvSpPr/>
          <p:nvPr/>
        </p:nvSpPr>
        <p:spPr>
          <a:xfrm>
            <a:off x="3799433" y="2386584"/>
            <a:ext cx="1543091" cy="932688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3881731" y="2455164"/>
            <a:ext cx="26061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310" name="Google Shape;310;p28"/>
          <p:cNvSpPr txBox="1"/>
          <p:nvPr/>
        </p:nvSpPr>
        <p:spPr>
          <a:xfrm>
            <a:off x="3881731" y="2640330"/>
            <a:ext cx="13784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APLICAR REGRAS</a:t>
            </a:r>
            <a:endParaRPr sz="1100"/>
          </a:p>
        </p:txBody>
      </p:sp>
      <p:sp>
        <p:nvSpPr>
          <p:cNvPr id="311" name="Google Shape;311;p28"/>
          <p:cNvSpPr txBox="1"/>
          <p:nvPr/>
        </p:nvSpPr>
        <p:spPr>
          <a:xfrm>
            <a:off x="3881731" y="2880360"/>
            <a:ext cx="137849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KPIs, escopos e regras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negócio documentadas</a:t>
            </a:r>
            <a:endParaRPr sz="1100"/>
          </a:p>
        </p:txBody>
      </p:sp>
      <p:sp>
        <p:nvSpPr>
          <p:cNvPr id="312" name="Google Shape;312;p28"/>
          <p:cNvSpPr/>
          <p:nvPr/>
        </p:nvSpPr>
        <p:spPr>
          <a:xfrm>
            <a:off x="5465972" y="2386584"/>
            <a:ext cx="1543091" cy="932688"/>
          </a:xfrm>
          <a:prstGeom prst="roundRect">
            <a:avLst>
              <a:gd fmla="val 16667" name="adj"/>
            </a:avLst>
          </a:prstGeom>
          <a:solidFill>
            <a:srgbClr val="275B8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5548270" y="2455164"/>
            <a:ext cx="26061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314" name="Google Shape;314;p28"/>
          <p:cNvSpPr txBox="1"/>
          <p:nvPr/>
        </p:nvSpPr>
        <p:spPr>
          <a:xfrm>
            <a:off x="5548270" y="2640330"/>
            <a:ext cx="13784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MODELAR</a:t>
            </a:r>
            <a:endParaRPr sz="1100"/>
          </a:p>
        </p:txBody>
      </p:sp>
      <p:sp>
        <p:nvSpPr>
          <p:cNvPr id="315" name="Google Shape;315;p28"/>
          <p:cNvSpPr txBox="1"/>
          <p:nvPr/>
        </p:nvSpPr>
        <p:spPr>
          <a:xfrm>
            <a:off x="5548270" y="2880360"/>
            <a:ext cx="137849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Camada analítica no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grain adequado</a:t>
            </a:r>
            <a:endParaRPr sz="1100"/>
          </a:p>
        </p:txBody>
      </p:sp>
      <p:sp>
        <p:nvSpPr>
          <p:cNvPr id="316" name="Google Shape;316;p28"/>
          <p:cNvSpPr/>
          <p:nvPr/>
        </p:nvSpPr>
        <p:spPr>
          <a:xfrm>
            <a:off x="7132510" y="2386584"/>
            <a:ext cx="1543091" cy="932688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7214808" y="2455164"/>
            <a:ext cx="26061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318" name="Google Shape;318;p28"/>
          <p:cNvSpPr txBox="1"/>
          <p:nvPr/>
        </p:nvSpPr>
        <p:spPr>
          <a:xfrm>
            <a:off x="7214808" y="2640330"/>
            <a:ext cx="137849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endParaRPr sz="1100"/>
          </a:p>
        </p:txBody>
      </p:sp>
      <p:sp>
        <p:nvSpPr>
          <p:cNvPr id="319" name="Google Shape;319;p28"/>
          <p:cNvSpPr txBox="1"/>
          <p:nvPr/>
        </p:nvSpPr>
        <p:spPr>
          <a:xfrm>
            <a:off x="7214808" y="2880360"/>
            <a:ext cx="137849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Realizado × orçado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ciclo e escopo</a:t>
            </a:r>
            <a:endParaRPr sz="1100"/>
          </a:p>
        </p:txBody>
      </p:sp>
      <p:sp>
        <p:nvSpPr>
          <p:cNvPr id="320" name="Google Shape;320;p28"/>
          <p:cNvSpPr/>
          <p:nvPr/>
        </p:nvSpPr>
        <p:spPr>
          <a:xfrm>
            <a:off x="466356" y="3600450"/>
            <a:ext cx="5177928" cy="10149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603520" y="3703320"/>
            <a:ext cx="17145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DECISÕES DE QUALIDADE</a:t>
            </a:r>
            <a:endParaRPr sz="1100"/>
          </a:p>
        </p:txBody>
      </p:sp>
      <p:sp>
        <p:nvSpPr>
          <p:cNvPr id="322" name="Google Shape;322;p28"/>
          <p:cNvSpPr txBox="1"/>
          <p:nvPr/>
        </p:nvSpPr>
        <p:spPr>
          <a:xfrm>
            <a:off x="630953" y="3922776"/>
            <a:ext cx="48350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• Granularidade preservada antes das agregações.</a:t>
            </a:r>
            <a:endParaRPr sz="1100"/>
          </a:p>
        </p:txBody>
      </p:sp>
      <p:sp>
        <p:nvSpPr>
          <p:cNvPr id="323" name="Google Shape;323;p28"/>
          <p:cNvSpPr txBox="1"/>
          <p:nvPr/>
        </p:nvSpPr>
        <p:spPr>
          <a:xfrm>
            <a:off x="630953" y="4121658"/>
            <a:ext cx="48350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• Integridade referencial validada entre as fontes.</a:t>
            </a:r>
            <a:endParaRPr sz="1100"/>
          </a:p>
        </p:txBody>
      </p:sp>
      <p:sp>
        <p:nvSpPr>
          <p:cNvPr id="324" name="Google Shape;324;p28"/>
          <p:cNvSpPr txBox="1"/>
          <p:nvPr/>
        </p:nvSpPr>
        <p:spPr>
          <a:xfrm>
            <a:off x="630953" y="4320540"/>
            <a:ext cx="48350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• BOT e BOTI mantidos separados: não há regra documentada de equivalência.</a:t>
            </a:r>
            <a:endParaRPr sz="1100"/>
          </a:p>
        </p:txBody>
      </p:sp>
      <p:sp>
        <p:nvSpPr>
          <p:cNvPr id="325" name="Google Shape;325;p28"/>
          <p:cNvSpPr/>
          <p:nvPr/>
        </p:nvSpPr>
        <p:spPr>
          <a:xfrm>
            <a:off x="5829455" y="3600450"/>
            <a:ext cx="2846146" cy="1014984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6007768" y="3703320"/>
            <a:ext cx="24346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sz="1100"/>
          </a:p>
        </p:txBody>
      </p:sp>
      <p:sp>
        <p:nvSpPr>
          <p:cNvPr id="327" name="Google Shape;327;p28"/>
          <p:cNvSpPr txBox="1"/>
          <p:nvPr/>
        </p:nvSpPr>
        <p:spPr>
          <a:xfrm>
            <a:off x="6007768" y="3922776"/>
            <a:ext cx="24346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Camada analítica</a:t>
            </a:r>
            <a:endParaRPr sz="1100"/>
          </a:p>
        </p:txBody>
      </p:sp>
      <p:sp>
        <p:nvSpPr>
          <p:cNvPr id="328" name="Google Shape;328;p28"/>
          <p:cNvSpPr txBox="1"/>
          <p:nvPr/>
        </p:nvSpPr>
        <p:spPr>
          <a:xfrm>
            <a:off x="6007768" y="4169664"/>
            <a:ext cx="2434655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Realizado × Orçado</a:t>
            </a:r>
            <a:b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Looker Studio</a:t>
            </a:r>
            <a:endParaRPr sz="1100"/>
          </a:p>
        </p:txBody>
      </p:sp>
      <p:sp>
        <p:nvSpPr>
          <p:cNvPr id="329" name="Google Shape;329;p28"/>
          <p:cNvSpPr txBox="1"/>
          <p:nvPr/>
        </p:nvSpPr>
        <p:spPr>
          <a:xfrm>
            <a:off x="466356" y="4855464"/>
            <a:ext cx="8229819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Pipeline: fontes → qualidade → regras de negócio → camada analítica → dashboard</a:t>
            </a:r>
            <a:endParaRPr sz="1100"/>
          </a:p>
        </p:txBody>
      </p:sp>
      <p:grpSp>
        <p:nvGrpSpPr>
          <p:cNvPr id="330" name="Google Shape;330;p28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8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9"/>
          <p:cNvGrpSpPr/>
          <p:nvPr/>
        </p:nvGrpSpPr>
        <p:grpSpPr>
          <a:xfrm>
            <a:off x="438875" y="3881601"/>
            <a:ext cx="8175000" cy="500135"/>
            <a:chOff x="438875" y="3881601"/>
            <a:chExt cx="8175000" cy="500135"/>
          </a:xfrm>
        </p:grpSpPr>
        <p:sp>
          <p:nvSpPr>
            <p:cNvPr id="338" name="Google Shape;338;p29"/>
            <p:cNvSpPr/>
            <p:nvPr/>
          </p:nvSpPr>
          <p:spPr>
            <a:xfrm>
              <a:off x="438875" y="3881601"/>
              <a:ext cx="8175000" cy="500135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DAE5E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9"/>
            <p:cNvSpPr txBox="1"/>
            <p:nvPr/>
          </p:nvSpPr>
          <p:spPr>
            <a:xfrm>
              <a:off x="438875" y="3893021"/>
              <a:ext cx="1714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00">
                  <a:solidFill>
                    <a:srgbClr val="D3497E"/>
                  </a:solidFill>
                </a:rPr>
                <a:t>      Observações</a:t>
              </a:r>
              <a:endParaRPr sz="1000"/>
            </a:p>
          </p:txBody>
        </p:sp>
        <p:sp>
          <p:nvSpPr>
            <p:cNvPr id="340" name="Google Shape;340;p29"/>
            <p:cNvSpPr txBox="1"/>
            <p:nvPr/>
          </p:nvSpPr>
          <p:spPr>
            <a:xfrm>
              <a:off x="603471" y="4069269"/>
              <a:ext cx="2057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7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RAW</a:t>
              </a:r>
              <a:endParaRPr sz="1100"/>
            </a:p>
          </p:txBody>
        </p:sp>
        <p:sp>
          <p:nvSpPr>
            <p:cNvPr id="341" name="Google Shape;341;p29"/>
            <p:cNvSpPr txBox="1"/>
            <p:nvPr/>
          </p:nvSpPr>
          <p:spPr>
            <a:xfrm>
              <a:off x="603475" y="4193906"/>
              <a:ext cx="2366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rgbClr val="1E2A32"/>
                  </a:solidFill>
                </a:rPr>
                <a:t>Dados brutos. Preservo o detalhe original de cada fonte</a:t>
              </a:r>
              <a:endParaRPr sz="1100"/>
            </a:p>
          </p:txBody>
        </p:sp>
        <p:sp>
          <p:nvSpPr>
            <p:cNvPr id="342" name="Google Shape;342;p29"/>
            <p:cNvSpPr txBox="1"/>
            <p:nvPr/>
          </p:nvSpPr>
          <p:spPr>
            <a:xfrm>
              <a:off x="3092992" y="4069269"/>
              <a:ext cx="2366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7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ANALITICO_CICLO</a:t>
              </a:r>
              <a:endParaRPr sz="1100"/>
            </a:p>
          </p:txBody>
        </p:sp>
        <p:sp>
          <p:nvSpPr>
            <p:cNvPr id="343" name="Google Shape;343;p29"/>
            <p:cNvSpPr txBox="1"/>
            <p:nvPr/>
          </p:nvSpPr>
          <p:spPr>
            <a:xfrm>
              <a:off x="3092992" y="4193906"/>
              <a:ext cx="2366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700" u="none" cap="none" strike="noStrike">
                  <a:solidFill>
                    <a:srgbClr val="1E2A32"/>
                  </a:solidFill>
                  <a:latin typeface="Arial"/>
                  <a:ea typeface="Arial"/>
                  <a:cs typeface="Arial"/>
                  <a:sym typeface="Arial"/>
                </a:rPr>
                <a:t>consolida no ciclo - análises temporais </a:t>
              </a:r>
              <a:r>
                <a:rPr lang="pt-BR" sz="700">
                  <a:solidFill>
                    <a:srgbClr val="1E2A32"/>
                  </a:solidFill>
                </a:rPr>
                <a:t>do canal</a:t>
              </a:r>
              <a:endParaRPr sz="1100"/>
            </a:p>
          </p:txBody>
        </p:sp>
        <p:sp>
          <p:nvSpPr>
            <p:cNvPr id="344" name="Google Shape;344;p29"/>
            <p:cNvSpPr txBox="1"/>
            <p:nvPr/>
          </p:nvSpPr>
          <p:spPr>
            <a:xfrm>
              <a:off x="5788258" y="4069269"/>
              <a:ext cx="250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7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REALIZADO × ORÇADO</a:t>
              </a:r>
              <a:endParaRPr sz="1100"/>
            </a:p>
          </p:txBody>
        </p:sp>
        <p:sp>
          <p:nvSpPr>
            <p:cNvPr id="345" name="Google Shape;345;p29"/>
            <p:cNvSpPr txBox="1"/>
            <p:nvPr/>
          </p:nvSpPr>
          <p:spPr>
            <a:xfrm>
              <a:off x="5788258" y="4193906"/>
              <a:ext cx="25032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rgbClr val="1E2A32"/>
                  </a:solidFill>
                </a:rPr>
                <a:t>comparar</a:t>
              </a:r>
              <a:r>
                <a:rPr b="0" i="0" lang="pt-BR" sz="700" u="none" cap="none" strike="noStrike">
                  <a:solidFill>
                    <a:srgbClr val="1E2A32"/>
                  </a:solidFill>
                  <a:latin typeface="Arial"/>
                  <a:ea typeface="Arial"/>
                  <a:cs typeface="Arial"/>
                  <a:sym typeface="Arial"/>
                </a:rPr>
                <a:t> planejado e realizado</a:t>
              </a:r>
              <a:endParaRPr sz="1100"/>
            </a:p>
          </p:txBody>
        </p:sp>
      </p:grpSp>
      <p:grpSp>
        <p:nvGrpSpPr>
          <p:cNvPr id="346" name="Google Shape;346;p29"/>
          <p:cNvGrpSpPr/>
          <p:nvPr/>
        </p:nvGrpSpPr>
        <p:grpSpPr>
          <a:xfrm>
            <a:off x="438882" y="463390"/>
            <a:ext cx="8229900" cy="469500"/>
            <a:chOff x="445782" y="624078"/>
            <a:chExt cx="8229900" cy="469500"/>
          </a:xfrm>
        </p:grpSpPr>
        <p:sp>
          <p:nvSpPr>
            <p:cNvPr id="347" name="Google Shape;347;p29"/>
            <p:cNvSpPr txBox="1"/>
            <p:nvPr/>
          </p:nvSpPr>
          <p:spPr>
            <a:xfrm>
              <a:off x="445782" y="624078"/>
              <a:ext cx="82299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D2743"/>
                  </a:solidFill>
                </a:rPr>
                <a:t>Modelagem dos Dados </a:t>
              </a:r>
              <a:r>
                <a:rPr lang="pt-BR">
                  <a:solidFill>
                    <a:schemeClr val="dk1"/>
                  </a:solidFill>
                </a:rPr>
                <a:t>| </a:t>
              </a:r>
              <a:r>
                <a:rPr b="1" i="0" lang="pt-BR" sz="12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Da granularidade transacional à visão consolidada por ciclo | </a:t>
              </a:r>
              <a:r>
                <a:rPr b="1" lang="pt-BR" sz="900">
                  <a:solidFill>
                    <a:srgbClr val="0D2743"/>
                  </a:solidFill>
                </a:rPr>
                <a:t>FONTES </a:t>
              </a:r>
              <a:r>
                <a:rPr b="1" i="0" lang="pt-BR" sz="9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pt-BR" sz="900">
                  <a:solidFill>
                    <a:srgbClr val="0D2743"/>
                  </a:solidFill>
                </a:rPr>
                <a:t>GRAIN </a:t>
              </a:r>
              <a:r>
                <a:rPr b="1" i="0" lang="pt-BR" sz="900" u="none" cap="none" strike="noStrike">
                  <a:solidFill>
                    <a:srgbClr val="0D274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pt-BR" sz="900">
                  <a:solidFill>
                    <a:srgbClr val="0D2743"/>
                  </a:solidFill>
                </a:rPr>
                <a:t>INTEGRAÇÃO</a:t>
              </a:r>
              <a:endParaRPr b="1" i="0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D2743"/>
                </a:solidFill>
              </a:endParaRPr>
            </a:p>
          </p:txBody>
        </p:sp>
        <p:sp>
          <p:nvSpPr>
            <p:cNvPr id="348" name="Google Shape;348;p29"/>
            <p:cNvSpPr txBox="1"/>
            <p:nvPr/>
          </p:nvSpPr>
          <p:spPr>
            <a:xfrm>
              <a:off x="445782" y="898398"/>
              <a:ext cx="82299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800" u="none" cap="none" strike="noStrike">
                  <a:solidFill>
                    <a:srgbClr val="647784"/>
                  </a:solidFill>
                  <a:latin typeface="Arial"/>
                  <a:ea typeface="Arial"/>
                  <a:cs typeface="Arial"/>
                  <a:sym typeface="Arial"/>
                </a:rPr>
                <a:t>A modelagem preserva o detalhe das fontes e consolida os indicadores no nível necessário para a análise. </a:t>
              </a:r>
              <a:endParaRPr sz="1100"/>
            </a:p>
          </p:txBody>
        </p:sp>
      </p:grpSp>
      <p:sp>
        <p:nvSpPr>
          <p:cNvPr id="349" name="Google Shape;349;p29"/>
          <p:cNvSpPr txBox="1"/>
          <p:nvPr/>
        </p:nvSpPr>
        <p:spPr>
          <a:xfrm>
            <a:off x="466356" y="1038804"/>
            <a:ext cx="219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1  |  FONTES E GRANULARIDADE</a:t>
            </a:r>
            <a:endParaRPr sz="1100"/>
          </a:p>
        </p:txBody>
      </p:sp>
      <p:sp>
        <p:nvSpPr>
          <p:cNvPr id="350" name="Google Shape;350;p29"/>
          <p:cNvSpPr/>
          <p:nvPr/>
        </p:nvSpPr>
        <p:spPr>
          <a:xfrm>
            <a:off x="466356" y="1258260"/>
            <a:ext cx="17487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555513" y="1306266"/>
            <a:ext cx="877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RAW_PEDIDOS</a:t>
            </a:r>
            <a:endParaRPr sz="1100"/>
          </a:p>
        </p:txBody>
      </p:sp>
      <p:sp>
        <p:nvSpPr>
          <p:cNvPr id="352" name="Google Shape;352;p29"/>
          <p:cNvSpPr txBox="1"/>
          <p:nvPr/>
        </p:nvSpPr>
        <p:spPr>
          <a:xfrm>
            <a:off x="1419643" y="1306266"/>
            <a:ext cx="699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pedido + revendedora + SKU</a:t>
            </a:r>
            <a:endParaRPr sz="1100"/>
          </a:p>
        </p:txBody>
      </p:sp>
      <p:sp>
        <p:nvSpPr>
          <p:cNvPr id="353" name="Google Shape;353;p29"/>
          <p:cNvSpPr/>
          <p:nvPr/>
        </p:nvSpPr>
        <p:spPr>
          <a:xfrm>
            <a:off x="466356" y="1772610"/>
            <a:ext cx="17487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555513" y="1820616"/>
            <a:ext cx="877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RAW_BASE</a:t>
            </a:r>
            <a:endParaRPr sz="1100"/>
          </a:p>
        </p:txBody>
      </p:sp>
      <p:sp>
        <p:nvSpPr>
          <p:cNvPr id="355" name="Google Shape;355;p29"/>
          <p:cNvSpPr txBox="1"/>
          <p:nvPr/>
        </p:nvSpPr>
        <p:spPr>
          <a:xfrm>
            <a:off x="1419643" y="1820616"/>
            <a:ext cx="69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ciclo + revendedora</a:t>
            </a:r>
            <a:endParaRPr sz="1100"/>
          </a:p>
        </p:txBody>
      </p:sp>
      <p:sp>
        <p:nvSpPr>
          <p:cNvPr id="356" name="Google Shape;356;p29"/>
          <p:cNvSpPr/>
          <p:nvPr/>
        </p:nvSpPr>
        <p:spPr>
          <a:xfrm>
            <a:off x="466356" y="2286960"/>
            <a:ext cx="17487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555513" y="2334966"/>
            <a:ext cx="877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RAW_MATERIAIS</a:t>
            </a:r>
            <a:endParaRPr sz="1100"/>
          </a:p>
        </p:txBody>
      </p:sp>
      <p:sp>
        <p:nvSpPr>
          <p:cNvPr id="358" name="Google Shape;358;p29"/>
          <p:cNvSpPr txBox="1"/>
          <p:nvPr/>
        </p:nvSpPr>
        <p:spPr>
          <a:xfrm>
            <a:off x="1419643" y="2334966"/>
            <a:ext cx="69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SKU + marca + categoria</a:t>
            </a:r>
            <a:endParaRPr sz="1100"/>
          </a:p>
        </p:txBody>
      </p:sp>
      <p:sp>
        <p:nvSpPr>
          <p:cNvPr id="359" name="Google Shape;359;p29"/>
          <p:cNvSpPr/>
          <p:nvPr/>
        </p:nvSpPr>
        <p:spPr>
          <a:xfrm>
            <a:off x="466356" y="2801310"/>
            <a:ext cx="17487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555526" y="2849321"/>
            <a:ext cx="985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RAW_CADASTRO</a:t>
            </a:r>
            <a:endParaRPr sz="1100"/>
          </a:p>
        </p:txBody>
      </p:sp>
      <p:sp>
        <p:nvSpPr>
          <p:cNvPr id="361" name="Google Shape;361;p29"/>
          <p:cNvSpPr txBox="1"/>
          <p:nvPr/>
        </p:nvSpPr>
        <p:spPr>
          <a:xfrm>
            <a:off x="1419643" y="2849316"/>
            <a:ext cx="69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revendedora + cadastro</a:t>
            </a:r>
            <a:endParaRPr sz="1100"/>
          </a:p>
        </p:txBody>
      </p:sp>
      <p:sp>
        <p:nvSpPr>
          <p:cNvPr id="362" name="Google Shape;362;p29"/>
          <p:cNvSpPr/>
          <p:nvPr/>
        </p:nvSpPr>
        <p:spPr>
          <a:xfrm>
            <a:off x="466356" y="3315660"/>
            <a:ext cx="1748700" cy="43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555527" y="3363671"/>
            <a:ext cx="1029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RAW_ORCAMENTO</a:t>
            </a:r>
            <a:endParaRPr sz="1100"/>
          </a:p>
        </p:txBody>
      </p:sp>
      <p:sp>
        <p:nvSpPr>
          <p:cNvPr id="364" name="Google Shape;364;p29"/>
          <p:cNvSpPr txBox="1"/>
          <p:nvPr/>
        </p:nvSpPr>
        <p:spPr>
          <a:xfrm>
            <a:off x="1419643" y="3363666"/>
            <a:ext cx="69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ciclo + KPI + marca</a:t>
            </a:r>
            <a:endParaRPr sz="1100"/>
          </a:p>
        </p:txBody>
      </p:sp>
      <p:sp>
        <p:nvSpPr>
          <p:cNvPr id="365" name="Google Shape;365;p29"/>
          <p:cNvSpPr/>
          <p:nvPr/>
        </p:nvSpPr>
        <p:spPr>
          <a:xfrm>
            <a:off x="2503237" y="1306266"/>
            <a:ext cx="1748700" cy="2345400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2681549" y="1470858"/>
            <a:ext cx="139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TRATAMENTO</a:t>
            </a:r>
            <a:endParaRPr sz="1100"/>
          </a:p>
        </p:txBody>
      </p:sp>
      <p:sp>
        <p:nvSpPr>
          <p:cNvPr id="367" name="Google Shape;367;p29"/>
          <p:cNvSpPr txBox="1"/>
          <p:nvPr/>
        </p:nvSpPr>
        <p:spPr>
          <a:xfrm>
            <a:off x="2681549" y="1704030"/>
            <a:ext cx="1392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+ REGRAS DE NEGÓCIO</a:t>
            </a:r>
            <a:endParaRPr sz="1100"/>
          </a:p>
        </p:txBody>
      </p:sp>
      <p:sp>
        <p:nvSpPr>
          <p:cNvPr id="368" name="Google Shape;368;p29"/>
          <p:cNvSpPr txBox="1"/>
          <p:nvPr/>
        </p:nvSpPr>
        <p:spPr>
          <a:xfrm>
            <a:off x="2708982" y="2081220"/>
            <a:ext cx="133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validar granularidade</a:t>
            </a:r>
            <a:endParaRPr sz="1100"/>
          </a:p>
        </p:txBody>
      </p:sp>
      <p:sp>
        <p:nvSpPr>
          <p:cNvPr id="369" name="Google Shape;369;p29"/>
          <p:cNvSpPr txBox="1"/>
          <p:nvPr/>
        </p:nvSpPr>
        <p:spPr>
          <a:xfrm>
            <a:off x="2708982" y="2410404"/>
            <a:ext cx="133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tratar / padronizar</a:t>
            </a:r>
            <a:endParaRPr sz="1100"/>
          </a:p>
        </p:txBody>
      </p:sp>
      <p:sp>
        <p:nvSpPr>
          <p:cNvPr id="370" name="Google Shape;370;p29"/>
          <p:cNvSpPr txBox="1"/>
          <p:nvPr/>
        </p:nvSpPr>
        <p:spPr>
          <a:xfrm>
            <a:off x="2708982" y="2739588"/>
            <a:ext cx="133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aplicar regras dos KPIs</a:t>
            </a:r>
            <a:endParaRPr sz="1100"/>
          </a:p>
        </p:txBody>
      </p:sp>
      <p:sp>
        <p:nvSpPr>
          <p:cNvPr id="371" name="Google Shape;371;p29"/>
          <p:cNvSpPr txBox="1"/>
          <p:nvPr/>
        </p:nvSpPr>
        <p:spPr>
          <a:xfrm>
            <a:off x="2708982" y="3068772"/>
            <a:ext cx="1337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preservar escopo das marcas</a:t>
            </a:r>
            <a:endParaRPr sz="1100"/>
          </a:p>
        </p:txBody>
      </p:sp>
      <p:cxnSp>
        <p:nvCxnSpPr>
          <p:cNvPr id="372" name="Google Shape;372;p29"/>
          <p:cNvCxnSpPr/>
          <p:nvPr/>
        </p:nvCxnSpPr>
        <p:spPr>
          <a:xfrm>
            <a:off x="2215193" y="1477716"/>
            <a:ext cx="288000" cy="1001400"/>
          </a:xfrm>
          <a:prstGeom prst="straightConnector1">
            <a:avLst/>
          </a:prstGeom>
          <a:noFill/>
          <a:ln cap="flat" cmpd="sng" w="15225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3" name="Google Shape;373;p29"/>
          <p:cNvCxnSpPr/>
          <p:nvPr/>
        </p:nvCxnSpPr>
        <p:spPr>
          <a:xfrm>
            <a:off x="2215193" y="1992066"/>
            <a:ext cx="288000" cy="486900"/>
          </a:xfrm>
          <a:prstGeom prst="straightConnector1">
            <a:avLst/>
          </a:prstGeom>
          <a:noFill/>
          <a:ln cap="flat" cmpd="sng" w="15225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4" name="Google Shape;374;p29"/>
          <p:cNvCxnSpPr/>
          <p:nvPr/>
        </p:nvCxnSpPr>
        <p:spPr>
          <a:xfrm flipH="1" rot="10800000">
            <a:off x="2215193" y="2479116"/>
            <a:ext cx="288000" cy="27300"/>
          </a:xfrm>
          <a:prstGeom prst="straightConnector1">
            <a:avLst/>
          </a:prstGeom>
          <a:noFill/>
          <a:ln cap="flat" cmpd="sng" w="15225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29"/>
          <p:cNvCxnSpPr/>
          <p:nvPr/>
        </p:nvCxnSpPr>
        <p:spPr>
          <a:xfrm flipH="1" rot="10800000">
            <a:off x="2215193" y="2478966"/>
            <a:ext cx="288000" cy="541800"/>
          </a:xfrm>
          <a:prstGeom prst="straightConnector1">
            <a:avLst/>
          </a:prstGeom>
          <a:noFill/>
          <a:ln cap="flat" cmpd="sng" w="15225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29"/>
          <p:cNvCxnSpPr/>
          <p:nvPr/>
        </p:nvCxnSpPr>
        <p:spPr>
          <a:xfrm flipH="1" rot="10800000">
            <a:off x="2215193" y="2479116"/>
            <a:ext cx="288000" cy="1056000"/>
          </a:xfrm>
          <a:prstGeom prst="straightConnector1">
            <a:avLst/>
          </a:prstGeom>
          <a:noFill/>
          <a:ln cap="flat" cmpd="sng" w="15225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7" name="Google Shape;377;p29"/>
          <p:cNvSpPr/>
          <p:nvPr/>
        </p:nvSpPr>
        <p:spPr>
          <a:xfrm>
            <a:off x="4492110" y="1258260"/>
            <a:ext cx="1865400" cy="1494900"/>
          </a:xfrm>
          <a:prstGeom prst="roundRect">
            <a:avLst>
              <a:gd fmla="val 16667" name="adj"/>
            </a:avLst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4677281" y="1415994"/>
            <a:ext cx="1495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ANALITICO_CICLO</a:t>
            </a:r>
            <a:endParaRPr sz="1100"/>
          </a:p>
        </p:txBody>
      </p:sp>
      <p:sp>
        <p:nvSpPr>
          <p:cNvPr id="379" name="Google Shape;379;p29"/>
          <p:cNvSpPr txBox="1"/>
          <p:nvPr/>
        </p:nvSpPr>
        <p:spPr>
          <a:xfrm>
            <a:off x="4677281" y="1676598"/>
            <a:ext cx="149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GRAIN: 1 linha = 1 ciclo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4690997" y="2195681"/>
            <a:ext cx="1467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GMV • Volume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Ativas • Base • Base Ativa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Inícios • Reinícios • Perdas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Atividade • RPA • UPA</a:t>
            </a:r>
            <a:endParaRPr sz="1100"/>
          </a:p>
        </p:txBody>
      </p:sp>
      <p:cxnSp>
        <p:nvCxnSpPr>
          <p:cNvPr id="381" name="Google Shape;381;p29"/>
          <p:cNvCxnSpPr/>
          <p:nvPr/>
        </p:nvCxnSpPr>
        <p:spPr>
          <a:xfrm>
            <a:off x="4252073" y="2478984"/>
            <a:ext cx="240000" cy="0"/>
          </a:xfrm>
          <a:prstGeom prst="straightConnector1">
            <a:avLst/>
          </a:prstGeom>
          <a:noFill/>
          <a:ln cap="flat" cmpd="sng" w="27925">
            <a:solidFill>
              <a:srgbClr val="D349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2" name="Google Shape;382;p29"/>
          <p:cNvSpPr/>
          <p:nvPr/>
        </p:nvSpPr>
        <p:spPr>
          <a:xfrm>
            <a:off x="6597572" y="1258260"/>
            <a:ext cx="2043600" cy="1494900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6597550" y="1408059"/>
            <a:ext cx="20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REALIZADO_X_ORCADO_CICLO</a:t>
            </a:r>
            <a:endParaRPr sz="1100"/>
          </a:p>
        </p:txBody>
      </p:sp>
      <p:sp>
        <p:nvSpPr>
          <p:cNvPr id="384" name="Google Shape;384;p29"/>
          <p:cNvSpPr txBox="1"/>
          <p:nvPr/>
        </p:nvSpPr>
        <p:spPr>
          <a:xfrm>
            <a:off x="6789601" y="1750289"/>
            <a:ext cx="1659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GRAIN: ciclo + KPI + marca</a:t>
            </a:r>
            <a:endParaRPr sz="1100"/>
          </a:p>
        </p:txBody>
      </p:sp>
      <p:sp>
        <p:nvSpPr>
          <p:cNvPr id="385" name="Google Shape;385;p29"/>
          <p:cNvSpPr txBox="1"/>
          <p:nvPr/>
        </p:nvSpPr>
        <p:spPr>
          <a:xfrm>
            <a:off x="6803317" y="2034335"/>
            <a:ext cx="1632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realizado • orçado</a:t>
            </a:r>
            <a:b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diferenças • atingimento</a:t>
            </a:r>
            <a:endParaRPr sz="1100"/>
          </a:p>
        </p:txBody>
      </p:sp>
      <p:cxnSp>
        <p:nvCxnSpPr>
          <p:cNvPr id="386" name="Google Shape;386;p29"/>
          <p:cNvCxnSpPr/>
          <p:nvPr/>
        </p:nvCxnSpPr>
        <p:spPr>
          <a:xfrm>
            <a:off x="6357535" y="2005782"/>
            <a:ext cx="240000" cy="0"/>
          </a:xfrm>
          <a:prstGeom prst="straightConnector1">
            <a:avLst/>
          </a:prstGeom>
          <a:noFill/>
          <a:ln cap="flat" cmpd="sng" w="25400">
            <a:solidFill>
              <a:srgbClr val="D349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7" name="Google Shape;387;p29"/>
          <p:cNvSpPr txBox="1"/>
          <p:nvPr/>
        </p:nvSpPr>
        <p:spPr>
          <a:xfrm>
            <a:off x="914094" y="4987615"/>
            <a:ext cx="822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Chave de consolidação da ANALITICO_CICLO: nr_ciclo  |  Grain = o que uma linha representa na tabela.</a:t>
            </a:r>
            <a:endParaRPr sz="1100"/>
          </a:p>
        </p:txBody>
      </p:sp>
      <p:grpSp>
        <p:nvGrpSpPr>
          <p:cNvPr id="388" name="Google Shape;388;p29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389" name="Google Shape;389;p29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9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  <p:sp>
        <p:nvSpPr>
          <p:cNvPr id="391" name="Google Shape;391;p29"/>
          <p:cNvSpPr txBox="1"/>
          <p:nvPr/>
        </p:nvSpPr>
        <p:spPr>
          <a:xfrm>
            <a:off x="4677231" y="1864802"/>
            <a:ext cx="149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nr_ciclo como chave de consolidação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392" name="Google Shape;392;p29"/>
          <p:cNvGrpSpPr/>
          <p:nvPr/>
        </p:nvGrpSpPr>
        <p:grpSpPr>
          <a:xfrm>
            <a:off x="438881" y="4460695"/>
            <a:ext cx="8175101" cy="453677"/>
            <a:chOff x="466364" y="4451883"/>
            <a:chExt cx="8147400" cy="744221"/>
          </a:xfrm>
        </p:grpSpPr>
        <p:sp>
          <p:nvSpPr>
            <p:cNvPr id="393" name="Google Shape;393;p29"/>
            <p:cNvSpPr/>
            <p:nvPr/>
          </p:nvSpPr>
          <p:spPr>
            <a:xfrm>
              <a:off x="466364" y="4451883"/>
              <a:ext cx="8147400" cy="7200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DAE5E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9"/>
            <p:cNvSpPr txBox="1"/>
            <p:nvPr/>
          </p:nvSpPr>
          <p:spPr>
            <a:xfrm>
              <a:off x="624102" y="4459954"/>
              <a:ext cx="1646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600">
                  <a:solidFill>
                    <a:srgbClr val="D3497E"/>
                  </a:solidFill>
                </a:rPr>
                <a:t>CUIDADOS TOMADOS:</a:t>
              </a:r>
              <a:endParaRPr sz="900"/>
            </a:p>
          </p:txBody>
        </p:sp>
        <p:sp>
          <p:nvSpPr>
            <p:cNvPr id="395" name="Google Shape;395;p29"/>
            <p:cNvSpPr txBox="1"/>
            <p:nvPr/>
          </p:nvSpPr>
          <p:spPr>
            <a:xfrm>
              <a:off x="624102" y="4678604"/>
              <a:ext cx="7475400" cy="5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rgbClr val="1E2A32"/>
                  </a:solidFill>
                </a:rPr>
                <a:t>Agregar dados com granularidades diferentes sem controlar as chaves, poderia gerar duplicidade e distorcer os indicadores. Então primeiro preservei a granularidade das fontes e depois fiz a </a:t>
              </a:r>
              <a:r>
                <a:rPr lang="pt-BR" sz="800">
                  <a:solidFill>
                    <a:srgbClr val="1E2A32"/>
                  </a:solidFill>
                </a:rPr>
                <a:t>consolidação</a:t>
              </a:r>
              <a:r>
                <a:rPr lang="pt-BR" sz="800">
                  <a:solidFill>
                    <a:srgbClr val="1E2A32"/>
                  </a:solidFill>
                </a:rPr>
                <a:t> no nível adequado para cada análise.</a:t>
              </a:r>
              <a:endParaRPr sz="11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 txBox="1"/>
          <p:nvPr/>
        </p:nvSpPr>
        <p:spPr>
          <a:xfrm>
            <a:off x="462882" y="441928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D2743"/>
                </a:solidFill>
              </a:rPr>
              <a:t>Dashboard | </a:t>
            </a: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Da camada analítica à leitura executiva do ciclo | </a:t>
            </a:r>
            <a:r>
              <a:rPr b="1" i="0" lang="pt-BR" sz="11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LOOKER STUDIO • VISÃO EXECUTIVA</a:t>
            </a:r>
            <a:endParaRPr sz="1000"/>
          </a:p>
        </p:txBody>
      </p:sp>
      <p:sp>
        <p:nvSpPr>
          <p:cNvPr id="401" name="Google Shape;401;p30"/>
          <p:cNvSpPr txBox="1"/>
          <p:nvPr/>
        </p:nvSpPr>
        <p:spPr>
          <a:xfrm>
            <a:off x="462882" y="716248"/>
            <a:ext cx="8229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O dashboard organiza a investigação em quatro perspectivas, sem misturar escopos de realizado e orçamento.</a:t>
            </a:r>
            <a:endParaRPr b="0" i="0" sz="800" u="none" cap="none" strike="noStrike">
              <a:solidFill>
                <a:srgbClr val="6477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7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800">
                <a:solidFill>
                  <a:srgbClr val="647784"/>
                </a:solidFill>
              </a:rPr>
              <a:t>Síntese visual para apresentação • exploração detalhada no dashboard</a:t>
            </a:r>
            <a:r>
              <a:rPr b="1" lang="pt-BR" sz="800">
                <a:solidFill>
                  <a:srgbClr val="647784"/>
                </a:solidFill>
              </a:rPr>
              <a:t>. Link para o DB oficial: </a:t>
            </a:r>
            <a:endParaRPr sz="800">
              <a:solidFill>
                <a:srgbClr val="647784"/>
              </a:solidFill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445782" y="1248156"/>
            <a:ext cx="8264100" cy="333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445782" y="1248156"/>
            <a:ext cx="1062900" cy="3333000"/>
          </a:xfrm>
          <a:prstGeom prst="rect">
            <a:avLst/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0"/>
          <p:cNvSpPr txBox="1"/>
          <p:nvPr/>
        </p:nvSpPr>
        <p:spPr>
          <a:xfrm>
            <a:off x="569229" y="1399032"/>
            <a:ext cx="809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VENDA</a:t>
            </a:r>
            <a:endParaRPr sz="1100"/>
          </a:p>
        </p:txBody>
      </p:sp>
      <p:sp>
        <p:nvSpPr>
          <p:cNvPr id="405" name="Google Shape;405;p30"/>
          <p:cNvSpPr txBox="1"/>
          <p:nvPr/>
        </p:nvSpPr>
        <p:spPr>
          <a:xfrm>
            <a:off x="569229" y="1577340"/>
            <a:ext cx="80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DIRETA</a:t>
            </a:r>
            <a:endParaRPr sz="1100"/>
          </a:p>
        </p:txBody>
      </p:sp>
      <p:sp>
        <p:nvSpPr>
          <p:cNvPr id="406" name="Google Shape;406;p30"/>
          <p:cNvSpPr/>
          <p:nvPr/>
        </p:nvSpPr>
        <p:spPr>
          <a:xfrm>
            <a:off x="548655" y="2002536"/>
            <a:ext cx="850500" cy="274200"/>
          </a:xfrm>
          <a:prstGeom prst="roundRect">
            <a:avLst>
              <a:gd fmla="val 16667" name="adj"/>
            </a:avLst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610378" y="2029968"/>
            <a:ext cx="7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endParaRPr sz="1100"/>
          </a:p>
        </p:txBody>
      </p:sp>
      <p:sp>
        <p:nvSpPr>
          <p:cNvPr id="408" name="Google Shape;408;p30"/>
          <p:cNvSpPr txBox="1"/>
          <p:nvPr/>
        </p:nvSpPr>
        <p:spPr>
          <a:xfrm>
            <a:off x="610378" y="2496312"/>
            <a:ext cx="7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sz="1100"/>
          </a:p>
        </p:txBody>
      </p:sp>
      <p:sp>
        <p:nvSpPr>
          <p:cNvPr id="409" name="Google Shape;409;p30"/>
          <p:cNvSpPr txBox="1"/>
          <p:nvPr/>
        </p:nvSpPr>
        <p:spPr>
          <a:xfrm>
            <a:off x="610378" y="2962656"/>
            <a:ext cx="72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Produtividade</a:t>
            </a:r>
            <a:endParaRPr sz="1100"/>
          </a:p>
        </p:txBody>
      </p:sp>
      <p:sp>
        <p:nvSpPr>
          <p:cNvPr id="410" name="Google Shape;410;p30"/>
          <p:cNvSpPr txBox="1"/>
          <p:nvPr/>
        </p:nvSpPr>
        <p:spPr>
          <a:xfrm>
            <a:off x="610378" y="3429000"/>
            <a:ext cx="720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sz="1100"/>
          </a:p>
        </p:txBody>
      </p:sp>
      <p:sp>
        <p:nvSpPr>
          <p:cNvPr id="411" name="Google Shape;411;p30"/>
          <p:cNvSpPr txBox="1"/>
          <p:nvPr/>
        </p:nvSpPr>
        <p:spPr>
          <a:xfrm>
            <a:off x="1714546" y="1399032"/>
            <a:ext cx="233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endParaRPr sz="1100"/>
          </a:p>
        </p:txBody>
      </p:sp>
      <p:sp>
        <p:nvSpPr>
          <p:cNvPr id="412" name="Google Shape;412;p30"/>
          <p:cNvSpPr txBox="1"/>
          <p:nvPr/>
        </p:nvSpPr>
        <p:spPr>
          <a:xfrm>
            <a:off x="6995346" y="1405889"/>
            <a:ext cx="140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CICLO 2025-16  ▾</a:t>
            </a:r>
            <a:endParaRPr sz="1100"/>
          </a:p>
        </p:txBody>
      </p:sp>
      <p:sp>
        <p:nvSpPr>
          <p:cNvPr id="413" name="Google Shape;413;p30"/>
          <p:cNvSpPr/>
          <p:nvPr/>
        </p:nvSpPr>
        <p:spPr>
          <a:xfrm>
            <a:off x="1714546" y="1666494"/>
            <a:ext cx="1488300" cy="493800"/>
          </a:xfrm>
          <a:prstGeom prst="roundRect">
            <a:avLst>
              <a:gd fmla="val 16667" name="adj"/>
            </a:avLst>
          </a:prstGeom>
          <a:solidFill>
            <a:srgbClr val="F7F6F2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1789986" y="1721358"/>
            <a:ext cx="13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GMV | MARCAS COM ORÇAMENTO</a:t>
            </a:r>
            <a:endParaRPr sz="1100"/>
          </a:p>
        </p:txBody>
      </p:sp>
      <p:sp>
        <p:nvSpPr>
          <p:cNvPr id="415" name="Google Shape;415;p30"/>
          <p:cNvSpPr txBox="1"/>
          <p:nvPr/>
        </p:nvSpPr>
        <p:spPr>
          <a:xfrm>
            <a:off x="1789986" y="1906524"/>
            <a:ext cx="133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R$ 373,50 mi</a:t>
            </a:r>
            <a:endParaRPr sz="1100"/>
          </a:p>
        </p:txBody>
      </p:sp>
      <p:sp>
        <p:nvSpPr>
          <p:cNvPr id="416" name="Google Shape;416;p30"/>
          <p:cNvSpPr/>
          <p:nvPr/>
        </p:nvSpPr>
        <p:spPr>
          <a:xfrm>
            <a:off x="3339935" y="1666494"/>
            <a:ext cx="1488300" cy="493800"/>
          </a:xfrm>
          <a:prstGeom prst="roundRect">
            <a:avLst>
              <a:gd fmla="val 16667" name="adj"/>
            </a:avLst>
          </a:prstGeom>
          <a:solidFill>
            <a:srgbClr val="F7F6F2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3415375" y="1721358"/>
            <a:ext cx="13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ATIVAS</a:t>
            </a:r>
            <a:endParaRPr sz="1100"/>
          </a:p>
        </p:txBody>
      </p:sp>
      <p:sp>
        <p:nvSpPr>
          <p:cNvPr id="418" name="Google Shape;418;p30"/>
          <p:cNvSpPr txBox="1"/>
          <p:nvPr/>
        </p:nvSpPr>
        <p:spPr>
          <a:xfrm>
            <a:off x="3415375" y="1906524"/>
            <a:ext cx="133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244,2 mil</a:t>
            </a:r>
            <a:endParaRPr sz="1100"/>
          </a:p>
        </p:txBody>
      </p:sp>
      <p:sp>
        <p:nvSpPr>
          <p:cNvPr id="419" name="Google Shape;419;p30"/>
          <p:cNvSpPr/>
          <p:nvPr/>
        </p:nvSpPr>
        <p:spPr>
          <a:xfrm>
            <a:off x="4965324" y="1666494"/>
            <a:ext cx="1488300" cy="493800"/>
          </a:xfrm>
          <a:prstGeom prst="roundRect">
            <a:avLst>
              <a:gd fmla="val 16667" name="adj"/>
            </a:avLst>
          </a:prstGeom>
          <a:solidFill>
            <a:srgbClr val="F7F6F2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5040764" y="1721358"/>
            <a:ext cx="13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RPA</a:t>
            </a:r>
            <a:endParaRPr sz="1100"/>
          </a:p>
        </p:txBody>
      </p:sp>
      <p:sp>
        <p:nvSpPr>
          <p:cNvPr id="421" name="Google Shape;421;p30"/>
          <p:cNvSpPr txBox="1"/>
          <p:nvPr/>
        </p:nvSpPr>
        <p:spPr>
          <a:xfrm>
            <a:off x="5040764" y="1906524"/>
            <a:ext cx="133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R$ 1,64 mil</a:t>
            </a:r>
            <a:endParaRPr sz="1100"/>
          </a:p>
        </p:txBody>
      </p:sp>
      <p:sp>
        <p:nvSpPr>
          <p:cNvPr id="422" name="Google Shape;422;p30"/>
          <p:cNvSpPr/>
          <p:nvPr/>
        </p:nvSpPr>
        <p:spPr>
          <a:xfrm>
            <a:off x="6590714" y="1666494"/>
            <a:ext cx="1488300" cy="493800"/>
          </a:xfrm>
          <a:prstGeom prst="roundRect">
            <a:avLst>
              <a:gd fmla="val 16667" name="adj"/>
            </a:avLst>
          </a:prstGeom>
          <a:solidFill>
            <a:srgbClr val="F7F6F2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0"/>
          <p:cNvSpPr txBox="1"/>
          <p:nvPr/>
        </p:nvSpPr>
        <p:spPr>
          <a:xfrm>
            <a:off x="6666153" y="1721358"/>
            <a:ext cx="13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UPA</a:t>
            </a:r>
            <a:endParaRPr sz="1100"/>
          </a:p>
        </p:txBody>
      </p:sp>
      <p:sp>
        <p:nvSpPr>
          <p:cNvPr id="424" name="Google Shape;424;p30"/>
          <p:cNvSpPr txBox="1"/>
          <p:nvPr/>
        </p:nvSpPr>
        <p:spPr>
          <a:xfrm>
            <a:off x="6666153" y="1906524"/>
            <a:ext cx="133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22,57</a:t>
            </a:r>
            <a:endParaRPr sz="1100"/>
          </a:p>
        </p:txBody>
      </p:sp>
      <p:sp>
        <p:nvSpPr>
          <p:cNvPr id="425" name="Google Shape;425;p30"/>
          <p:cNvSpPr/>
          <p:nvPr/>
        </p:nvSpPr>
        <p:spPr>
          <a:xfrm>
            <a:off x="1714546" y="2366010"/>
            <a:ext cx="31410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BF0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1824277" y="2468880"/>
            <a:ext cx="2674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POPULAÇÃO DO CANAL | REALIZADO × ORÇADO</a:t>
            </a:r>
            <a:endParaRPr sz="1100"/>
          </a:p>
        </p:txBody>
      </p:sp>
      <p:sp>
        <p:nvSpPr>
          <p:cNvPr id="427" name="Google Shape;427;p30"/>
          <p:cNvSpPr txBox="1"/>
          <p:nvPr/>
        </p:nvSpPr>
        <p:spPr>
          <a:xfrm>
            <a:off x="1831135" y="2729484"/>
            <a:ext cx="58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1100"/>
          </a:p>
        </p:txBody>
      </p:sp>
      <p:sp>
        <p:nvSpPr>
          <p:cNvPr id="428" name="Google Shape;428;p30"/>
          <p:cNvSpPr/>
          <p:nvPr/>
        </p:nvSpPr>
        <p:spPr>
          <a:xfrm>
            <a:off x="2420939" y="2743200"/>
            <a:ext cx="17487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0"/>
          <p:cNvSpPr/>
          <p:nvPr/>
        </p:nvSpPr>
        <p:spPr>
          <a:xfrm>
            <a:off x="2420939" y="2743200"/>
            <a:ext cx="1631700" cy="102900"/>
          </a:xfrm>
          <a:prstGeom prst="rect">
            <a:avLst/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4306939" y="2715768"/>
            <a:ext cx="390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102.6%</a:t>
            </a:r>
            <a:endParaRPr sz="1100"/>
          </a:p>
        </p:txBody>
      </p:sp>
      <p:sp>
        <p:nvSpPr>
          <p:cNvPr id="431" name="Google Shape;431;p30"/>
          <p:cNvSpPr txBox="1"/>
          <p:nvPr/>
        </p:nvSpPr>
        <p:spPr>
          <a:xfrm>
            <a:off x="1831135" y="2990088"/>
            <a:ext cx="58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Base Ativa</a:t>
            </a:r>
            <a:endParaRPr sz="1100"/>
          </a:p>
        </p:txBody>
      </p:sp>
      <p:sp>
        <p:nvSpPr>
          <p:cNvPr id="432" name="Google Shape;432;p30"/>
          <p:cNvSpPr/>
          <p:nvPr/>
        </p:nvSpPr>
        <p:spPr>
          <a:xfrm>
            <a:off x="2420939" y="3003804"/>
            <a:ext cx="17487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2420939" y="3003804"/>
            <a:ext cx="1636800" cy="102900"/>
          </a:xfrm>
          <a:prstGeom prst="rect">
            <a:avLst/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4306939" y="2976372"/>
            <a:ext cx="390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103.0%</a:t>
            </a:r>
            <a:endParaRPr sz="1100"/>
          </a:p>
        </p:txBody>
      </p:sp>
      <p:sp>
        <p:nvSpPr>
          <p:cNvPr id="435" name="Google Shape;435;p30"/>
          <p:cNvSpPr txBox="1"/>
          <p:nvPr/>
        </p:nvSpPr>
        <p:spPr>
          <a:xfrm>
            <a:off x="1831135" y="3250692"/>
            <a:ext cx="58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Ativas</a:t>
            </a:r>
            <a:endParaRPr sz="1100"/>
          </a:p>
        </p:txBody>
      </p:sp>
      <p:sp>
        <p:nvSpPr>
          <p:cNvPr id="436" name="Google Shape;436;p30"/>
          <p:cNvSpPr/>
          <p:nvPr/>
        </p:nvSpPr>
        <p:spPr>
          <a:xfrm>
            <a:off x="2420939" y="3264408"/>
            <a:ext cx="17487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2420939" y="3264408"/>
            <a:ext cx="1654800" cy="102900"/>
          </a:xfrm>
          <a:prstGeom prst="rect">
            <a:avLst/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0"/>
          <p:cNvSpPr txBox="1"/>
          <p:nvPr/>
        </p:nvSpPr>
        <p:spPr>
          <a:xfrm>
            <a:off x="4306939" y="3236976"/>
            <a:ext cx="390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104.1%</a:t>
            </a:r>
            <a:endParaRPr sz="1100"/>
          </a:p>
        </p:txBody>
      </p:sp>
      <p:sp>
        <p:nvSpPr>
          <p:cNvPr id="439" name="Google Shape;439;p30"/>
          <p:cNvSpPr/>
          <p:nvPr/>
        </p:nvSpPr>
        <p:spPr>
          <a:xfrm>
            <a:off x="4985899" y="2366010"/>
            <a:ext cx="31752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BF0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5095630" y="2468880"/>
            <a:ext cx="2709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GMV POR MARCA | REALIZADO × ORÇADO</a:t>
            </a:r>
            <a:endParaRPr sz="1100"/>
          </a:p>
        </p:txBody>
      </p:sp>
      <p:sp>
        <p:nvSpPr>
          <p:cNvPr id="441" name="Google Shape;441;p30"/>
          <p:cNvSpPr txBox="1"/>
          <p:nvPr/>
        </p:nvSpPr>
        <p:spPr>
          <a:xfrm>
            <a:off x="5102488" y="2681478"/>
            <a:ext cx="34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BOTI</a:t>
            </a:r>
            <a:endParaRPr sz="1100"/>
          </a:p>
        </p:txBody>
      </p:sp>
      <p:sp>
        <p:nvSpPr>
          <p:cNvPr id="442" name="Google Shape;442;p30"/>
          <p:cNvSpPr/>
          <p:nvPr/>
        </p:nvSpPr>
        <p:spPr>
          <a:xfrm>
            <a:off x="5500263" y="2695194"/>
            <a:ext cx="1748700" cy="891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/>
          <p:nvPr/>
        </p:nvSpPr>
        <p:spPr>
          <a:xfrm>
            <a:off x="5500263" y="2695194"/>
            <a:ext cx="1395600" cy="891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338256" y="2667762"/>
            <a:ext cx="5691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87.8%</a:t>
            </a:r>
            <a:endParaRPr sz="1100"/>
          </a:p>
        </p:txBody>
      </p:sp>
      <p:sp>
        <p:nvSpPr>
          <p:cNvPr id="445" name="Google Shape;445;p30"/>
          <p:cNvSpPr txBox="1"/>
          <p:nvPr/>
        </p:nvSpPr>
        <p:spPr>
          <a:xfrm>
            <a:off x="5102488" y="2887218"/>
            <a:ext cx="34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EUD</a:t>
            </a:r>
            <a:endParaRPr sz="1100"/>
          </a:p>
        </p:txBody>
      </p:sp>
      <p:sp>
        <p:nvSpPr>
          <p:cNvPr id="446" name="Google Shape;446;p30"/>
          <p:cNvSpPr/>
          <p:nvPr/>
        </p:nvSpPr>
        <p:spPr>
          <a:xfrm>
            <a:off x="5500263" y="2900933"/>
            <a:ext cx="1748700" cy="891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5500263" y="2900933"/>
            <a:ext cx="1490100" cy="891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7338256" y="2873502"/>
            <a:ext cx="5691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93.7%</a:t>
            </a:r>
            <a:endParaRPr sz="1100"/>
          </a:p>
        </p:txBody>
      </p:sp>
      <p:sp>
        <p:nvSpPr>
          <p:cNvPr id="449" name="Google Shape;449;p30"/>
          <p:cNvSpPr txBox="1"/>
          <p:nvPr/>
        </p:nvSpPr>
        <p:spPr>
          <a:xfrm>
            <a:off x="5102488" y="3092958"/>
            <a:ext cx="34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OUI</a:t>
            </a:r>
            <a:endParaRPr sz="1100"/>
          </a:p>
        </p:txBody>
      </p:sp>
      <p:sp>
        <p:nvSpPr>
          <p:cNvPr id="450" name="Google Shape;450;p30"/>
          <p:cNvSpPr/>
          <p:nvPr/>
        </p:nvSpPr>
        <p:spPr>
          <a:xfrm>
            <a:off x="5500263" y="3106673"/>
            <a:ext cx="1748700" cy="891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5500263" y="3106673"/>
            <a:ext cx="1618800" cy="89100"/>
          </a:xfrm>
          <a:prstGeom prst="rect">
            <a:avLst/>
          </a:prstGeom>
          <a:solidFill>
            <a:srgbClr val="347A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7338256" y="3079242"/>
            <a:ext cx="5691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101.8%</a:t>
            </a:r>
            <a:endParaRPr sz="1100"/>
          </a:p>
        </p:txBody>
      </p:sp>
      <p:sp>
        <p:nvSpPr>
          <p:cNvPr id="453" name="Google Shape;453;p30"/>
          <p:cNvSpPr txBox="1"/>
          <p:nvPr/>
        </p:nvSpPr>
        <p:spPr>
          <a:xfrm>
            <a:off x="5102488" y="3298698"/>
            <a:ext cx="34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QDB</a:t>
            </a:r>
            <a:endParaRPr sz="1100"/>
          </a:p>
        </p:txBody>
      </p:sp>
      <p:sp>
        <p:nvSpPr>
          <p:cNvPr id="454" name="Google Shape;454;p30"/>
          <p:cNvSpPr/>
          <p:nvPr/>
        </p:nvSpPr>
        <p:spPr>
          <a:xfrm>
            <a:off x="5500263" y="3312414"/>
            <a:ext cx="1748700" cy="891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5500263" y="3312414"/>
            <a:ext cx="1404600" cy="891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7338256" y="3284982"/>
            <a:ext cx="5691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88.3%</a:t>
            </a:r>
            <a:endParaRPr sz="1100"/>
          </a:p>
        </p:txBody>
      </p:sp>
      <p:sp>
        <p:nvSpPr>
          <p:cNvPr id="457" name="Google Shape;457;p30"/>
          <p:cNvSpPr/>
          <p:nvPr/>
        </p:nvSpPr>
        <p:spPr>
          <a:xfrm>
            <a:off x="1714546" y="3758184"/>
            <a:ext cx="3141048" cy="589788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1865426" y="3840480"/>
            <a:ext cx="281185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sz="1100"/>
          </a:p>
        </p:txBody>
      </p:sp>
      <p:sp>
        <p:nvSpPr>
          <p:cNvPr id="459" name="Google Shape;459;p30"/>
          <p:cNvSpPr txBox="1"/>
          <p:nvPr/>
        </p:nvSpPr>
        <p:spPr>
          <a:xfrm>
            <a:off x="1865426" y="3999087"/>
            <a:ext cx="2811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População • marcas • movimentação</a:t>
            </a:r>
            <a:endParaRPr b="1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</a:rPr>
              <a:t>DB oficial: Inclusa movimentação 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4985899" y="3758184"/>
            <a:ext cx="3175339" cy="589788"/>
          </a:xfrm>
          <a:prstGeom prst="roundRect">
            <a:avLst>
              <a:gd fmla="val 16667" name="adj"/>
            </a:avLst>
          </a:prstGeom>
          <a:solidFill>
            <a:srgbClr val="2D638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5136779" y="3840480"/>
            <a:ext cx="28530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PRODUTIVIDADE</a:t>
            </a:r>
            <a:endParaRPr sz="1100"/>
          </a:p>
        </p:txBody>
      </p:sp>
      <p:sp>
        <p:nvSpPr>
          <p:cNvPr id="462" name="Google Shape;462;p30"/>
          <p:cNvSpPr txBox="1"/>
          <p:nvPr/>
        </p:nvSpPr>
        <p:spPr>
          <a:xfrm>
            <a:off x="5136779" y="4025646"/>
            <a:ext cx="28530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RPA • UPA • histórico por ciclo</a:t>
            </a:r>
            <a:endParaRPr sz="1100"/>
          </a:p>
        </p:txBody>
      </p:sp>
      <p:sp>
        <p:nvSpPr>
          <p:cNvPr id="463" name="Google Shape;463;p30"/>
          <p:cNvSpPr/>
          <p:nvPr/>
        </p:nvSpPr>
        <p:spPr>
          <a:xfrm>
            <a:off x="1714546" y="4437126"/>
            <a:ext cx="6446692" cy="34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 txBox="1"/>
          <p:nvPr/>
        </p:nvSpPr>
        <p:spPr>
          <a:xfrm>
            <a:off x="1865426" y="4505706"/>
            <a:ext cx="613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Escopo: GMV orçado está estruturado para BOTI, EUD, OUI e QDB. BOT permanece no realizado do canal, sem orçamento documentado.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445782" y="4882896"/>
            <a:ext cx="822981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Fonte visual: camada analítica + realizado_x_orcado_ciclo • dashboard organizado para investigação do ciclo 2025-16</a:t>
            </a:r>
            <a:endParaRPr sz="1100"/>
          </a:p>
        </p:txBody>
      </p:sp>
      <p:grpSp>
        <p:nvGrpSpPr>
          <p:cNvPr id="466" name="Google Shape;466;p30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467" name="Google Shape;467;p30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0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/>
          <p:nvPr/>
        </p:nvSpPr>
        <p:spPr>
          <a:xfrm>
            <a:off x="445782" y="624078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D2743"/>
                </a:solidFill>
              </a:rPr>
              <a:t>GMV | ciclo 2025-16 | </a:t>
            </a: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O resultado financeiro precisa ser lido respeitando o escopo do orçamento</a:t>
            </a:r>
            <a:endParaRPr sz="1100"/>
          </a:p>
        </p:txBody>
      </p:sp>
      <p:sp>
        <p:nvSpPr>
          <p:cNvPr id="474" name="Google Shape;474;p31"/>
          <p:cNvSpPr txBox="1"/>
          <p:nvPr/>
        </p:nvSpPr>
        <p:spPr>
          <a:xfrm>
            <a:off x="445782" y="898398"/>
            <a:ext cx="8229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O realizado do canal e o realizado das marcas com orçamento são visões diferentes e não devem ser comparados ao mesmo orçamento.</a:t>
            </a:r>
            <a:endParaRPr b="0" i="0" sz="800" u="none" cap="none" strike="noStrike">
              <a:solidFill>
                <a:srgbClr val="6477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78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647784"/>
                </a:solidFill>
              </a:rPr>
              <a:t>Síntese visual para apresentação • exploração detalhada no dashboard </a:t>
            </a:r>
            <a:endParaRPr b="1" sz="800">
              <a:solidFill>
                <a:srgbClr val="647784"/>
              </a:solidFill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473244" y="1467386"/>
            <a:ext cx="23865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1"/>
          <p:cNvSpPr txBox="1"/>
          <p:nvPr/>
        </p:nvSpPr>
        <p:spPr>
          <a:xfrm>
            <a:off x="582975" y="1563398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GMV REALIZADO DO CANAL</a:t>
            </a:r>
            <a:endParaRPr sz="1100"/>
          </a:p>
        </p:txBody>
      </p:sp>
      <p:sp>
        <p:nvSpPr>
          <p:cNvPr id="477" name="Google Shape;477;p31"/>
          <p:cNvSpPr txBox="1"/>
          <p:nvPr/>
        </p:nvSpPr>
        <p:spPr>
          <a:xfrm>
            <a:off x="582975" y="1755422"/>
            <a:ext cx="2167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R$ 400,68 mi</a:t>
            </a:r>
            <a:endParaRPr sz="1100"/>
          </a:p>
        </p:txBody>
      </p:sp>
      <p:sp>
        <p:nvSpPr>
          <p:cNvPr id="478" name="Google Shape;478;p31"/>
          <p:cNvSpPr txBox="1"/>
          <p:nvPr/>
        </p:nvSpPr>
        <p:spPr>
          <a:xfrm>
            <a:off x="582975" y="2016026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Inclui o realizado do canal, inclusive BOT.</a:t>
            </a:r>
            <a:endParaRPr sz="1100"/>
          </a:p>
        </p:txBody>
      </p:sp>
      <p:sp>
        <p:nvSpPr>
          <p:cNvPr id="479" name="Google Shape;479;p31"/>
          <p:cNvSpPr/>
          <p:nvPr/>
        </p:nvSpPr>
        <p:spPr>
          <a:xfrm>
            <a:off x="3072495" y="1467386"/>
            <a:ext cx="23865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1"/>
          <p:cNvSpPr txBox="1"/>
          <p:nvPr/>
        </p:nvSpPr>
        <p:spPr>
          <a:xfrm>
            <a:off x="3182226" y="1563398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GMV REALIZADO | MARCAS COM ORÇAMENTO</a:t>
            </a:r>
            <a:endParaRPr sz="1100"/>
          </a:p>
        </p:txBody>
      </p:sp>
      <p:sp>
        <p:nvSpPr>
          <p:cNvPr id="481" name="Google Shape;481;p31"/>
          <p:cNvSpPr txBox="1"/>
          <p:nvPr/>
        </p:nvSpPr>
        <p:spPr>
          <a:xfrm>
            <a:off x="3182226" y="1755422"/>
            <a:ext cx="2167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R$ 373,50 mi</a:t>
            </a:r>
            <a:endParaRPr sz="1100"/>
          </a:p>
        </p:txBody>
      </p:sp>
      <p:sp>
        <p:nvSpPr>
          <p:cNvPr id="482" name="Google Shape;482;p31"/>
          <p:cNvSpPr txBox="1"/>
          <p:nvPr/>
        </p:nvSpPr>
        <p:spPr>
          <a:xfrm>
            <a:off x="3182226" y="2016026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BOTI + EUD + OUI + QDB.</a:t>
            </a:r>
            <a:endParaRPr sz="1100"/>
          </a:p>
        </p:txBody>
      </p:sp>
      <p:sp>
        <p:nvSpPr>
          <p:cNvPr id="483" name="Google Shape;483;p31"/>
          <p:cNvSpPr/>
          <p:nvPr/>
        </p:nvSpPr>
        <p:spPr>
          <a:xfrm>
            <a:off x="5671747" y="1467386"/>
            <a:ext cx="23865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5781477" y="1563398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GMV ORÇADO | MARCAS COM ORÇAMENTO</a:t>
            </a:r>
            <a:endParaRPr sz="1100"/>
          </a:p>
        </p:txBody>
      </p:sp>
      <p:sp>
        <p:nvSpPr>
          <p:cNvPr id="485" name="Google Shape;485;p31"/>
          <p:cNvSpPr txBox="1"/>
          <p:nvPr/>
        </p:nvSpPr>
        <p:spPr>
          <a:xfrm>
            <a:off x="5781477" y="1755422"/>
            <a:ext cx="2167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R$ 418,06 mi</a:t>
            </a:r>
            <a:endParaRPr sz="1100"/>
          </a:p>
        </p:txBody>
      </p:sp>
      <p:sp>
        <p:nvSpPr>
          <p:cNvPr id="486" name="Google Shape;486;p31"/>
          <p:cNvSpPr txBox="1"/>
          <p:nvPr/>
        </p:nvSpPr>
        <p:spPr>
          <a:xfrm>
            <a:off x="5781477" y="2016026"/>
            <a:ext cx="21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Escopo documentado no orçamento.</a:t>
            </a:r>
            <a:endParaRPr sz="1100"/>
          </a:p>
        </p:txBody>
      </p:sp>
      <p:sp>
        <p:nvSpPr>
          <p:cNvPr id="487" name="Google Shape;487;p31"/>
          <p:cNvSpPr/>
          <p:nvPr/>
        </p:nvSpPr>
        <p:spPr>
          <a:xfrm>
            <a:off x="473244" y="2482370"/>
            <a:ext cx="5246400" cy="15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1"/>
          <p:cNvSpPr txBox="1"/>
          <p:nvPr/>
        </p:nvSpPr>
        <p:spPr>
          <a:xfrm>
            <a:off x="624124" y="2592098"/>
            <a:ext cx="4766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GMV POR MARCA | REALIZADO × ORÇADO</a:t>
            </a:r>
            <a:endParaRPr sz="1100"/>
          </a:p>
        </p:txBody>
      </p:sp>
      <p:sp>
        <p:nvSpPr>
          <p:cNvPr id="489" name="Google Shape;489;p31"/>
          <p:cNvSpPr txBox="1"/>
          <p:nvPr/>
        </p:nvSpPr>
        <p:spPr>
          <a:xfrm>
            <a:off x="637840" y="2866418"/>
            <a:ext cx="3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BOTI</a:t>
            </a:r>
            <a:endParaRPr sz="1100"/>
          </a:p>
        </p:txBody>
      </p:sp>
      <p:sp>
        <p:nvSpPr>
          <p:cNvPr id="490" name="Google Shape;490;p31"/>
          <p:cNvSpPr/>
          <p:nvPr/>
        </p:nvSpPr>
        <p:spPr>
          <a:xfrm>
            <a:off x="1049331" y="2880134"/>
            <a:ext cx="24348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1049331" y="2880134"/>
            <a:ext cx="1942800" cy="1029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3573143" y="2859560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87.8%</a:t>
            </a:r>
            <a:endParaRPr sz="1100"/>
          </a:p>
        </p:txBody>
      </p:sp>
      <p:sp>
        <p:nvSpPr>
          <p:cNvPr id="493" name="Google Shape;493;p31"/>
          <p:cNvSpPr txBox="1"/>
          <p:nvPr/>
        </p:nvSpPr>
        <p:spPr>
          <a:xfrm>
            <a:off x="4121797" y="2859560"/>
            <a:ext cx="68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R$ 275,83 mi</a:t>
            </a:r>
            <a:endParaRPr sz="1100"/>
          </a:p>
        </p:txBody>
      </p:sp>
      <p:sp>
        <p:nvSpPr>
          <p:cNvPr id="494" name="Google Shape;494;p31"/>
          <p:cNvSpPr txBox="1"/>
          <p:nvPr/>
        </p:nvSpPr>
        <p:spPr>
          <a:xfrm>
            <a:off x="4841906" y="2859560"/>
            <a:ext cx="7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R$ 314,23 mi</a:t>
            </a:r>
            <a:endParaRPr sz="1100"/>
          </a:p>
        </p:txBody>
      </p:sp>
      <p:sp>
        <p:nvSpPr>
          <p:cNvPr id="495" name="Google Shape;495;p31"/>
          <p:cNvSpPr txBox="1"/>
          <p:nvPr/>
        </p:nvSpPr>
        <p:spPr>
          <a:xfrm>
            <a:off x="637840" y="3133879"/>
            <a:ext cx="3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EUD</a:t>
            </a:r>
            <a:endParaRPr sz="1100"/>
          </a:p>
        </p:txBody>
      </p:sp>
      <p:sp>
        <p:nvSpPr>
          <p:cNvPr id="496" name="Google Shape;496;p31"/>
          <p:cNvSpPr/>
          <p:nvPr/>
        </p:nvSpPr>
        <p:spPr>
          <a:xfrm>
            <a:off x="1049331" y="3147595"/>
            <a:ext cx="24348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1049331" y="3147595"/>
            <a:ext cx="2074200" cy="1029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 txBox="1"/>
          <p:nvPr/>
        </p:nvSpPr>
        <p:spPr>
          <a:xfrm>
            <a:off x="3573143" y="3127022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93.7%</a:t>
            </a:r>
            <a:endParaRPr sz="1100"/>
          </a:p>
        </p:txBody>
      </p:sp>
      <p:sp>
        <p:nvSpPr>
          <p:cNvPr id="499" name="Google Shape;499;p31"/>
          <p:cNvSpPr txBox="1"/>
          <p:nvPr/>
        </p:nvSpPr>
        <p:spPr>
          <a:xfrm>
            <a:off x="4121797" y="3127022"/>
            <a:ext cx="68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R$ 84,46 mi</a:t>
            </a:r>
            <a:endParaRPr sz="1100"/>
          </a:p>
        </p:txBody>
      </p:sp>
      <p:sp>
        <p:nvSpPr>
          <p:cNvPr id="500" name="Google Shape;500;p31"/>
          <p:cNvSpPr txBox="1"/>
          <p:nvPr/>
        </p:nvSpPr>
        <p:spPr>
          <a:xfrm>
            <a:off x="4841906" y="3127022"/>
            <a:ext cx="7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R$ 90,12 mi</a:t>
            </a:r>
            <a:endParaRPr sz="1100"/>
          </a:p>
        </p:txBody>
      </p:sp>
      <p:sp>
        <p:nvSpPr>
          <p:cNvPr id="501" name="Google Shape;501;p31"/>
          <p:cNvSpPr txBox="1"/>
          <p:nvPr/>
        </p:nvSpPr>
        <p:spPr>
          <a:xfrm>
            <a:off x="637840" y="3401342"/>
            <a:ext cx="3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OUI</a:t>
            </a:r>
            <a:endParaRPr sz="1100"/>
          </a:p>
        </p:txBody>
      </p:sp>
      <p:sp>
        <p:nvSpPr>
          <p:cNvPr id="502" name="Google Shape;502;p31"/>
          <p:cNvSpPr/>
          <p:nvPr/>
        </p:nvSpPr>
        <p:spPr>
          <a:xfrm>
            <a:off x="1049331" y="3415058"/>
            <a:ext cx="24348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1049331" y="3415058"/>
            <a:ext cx="2253900" cy="102900"/>
          </a:xfrm>
          <a:prstGeom prst="rect">
            <a:avLst/>
          </a:prstGeom>
          <a:solidFill>
            <a:srgbClr val="347A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 txBox="1"/>
          <p:nvPr/>
        </p:nvSpPr>
        <p:spPr>
          <a:xfrm>
            <a:off x="3573143" y="3394484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101.8%</a:t>
            </a:r>
            <a:endParaRPr sz="1100"/>
          </a:p>
        </p:txBody>
      </p:sp>
      <p:sp>
        <p:nvSpPr>
          <p:cNvPr id="505" name="Google Shape;505;p31"/>
          <p:cNvSpPr txBox="1"/>
          <p:nvPr/>
        </p:nvSpPr>
        <p:spPr>
          <a:xfrm>
            <a:off x="4121797" y="3394484"/>
            <a:ext cx="68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R$ 8,22 mi</a:t>
            </a:r>
            <a:endParaRPr sz="1100"/>
          </a:p>
        </p:txBody>
      </p:sp>
      <p:sp>
        <p:nvSpPr>
          <p:cNvPr id="506" name="Google Shape;506;p31"/>
          <p:cNvSpPr txBox="1"/>
          <p:nvPr/>
        </p:nvSpPr>
        <p:spPr>
          <a:xfrm>
            <a:off x="4841906" y="3394484"/>
            <a:ext cx="7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R$ 8,07 mi</a:t>
            </a:r>
            <a:endParaRPr sz="1100"/>
          </a:p>
        </p:txBody>
      </p:sp>
      <p:sp>
        <p:nvSpPr>
          <p:cNvPr id="507" name="Google Shape;507;p31"/>
          <p:cNvSpPr txBox="1"/>
          <p:nvPr/>
        </p:nvSpPr>
        <p:spPr>
          <a:xfrm>
            <a:off x="637840" y="3668804"/>
            <a:ext cx="3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QDB</a:t>
            </a:r>
            <a:endParaRPr sz="1100"/>
          </a:p>
        </p:txBody>
      </p:sp>
      <p:sp>
        <p:nvSpPr>
          <p:cNvPr id="508" name="Google Shape;508;p31"/>
          <p:cNvSpPr/>
          <p:nvPr/>
        </p:nvSpPr>
        <p:spPr>
          <a:xfrm>
            <a:off x="1049331" y="3682519"/>
            <a:ext cx="2434800" cy="102900"/>
          </a:xfrm>
          <a:prstGeom prst="rect">
            <a:avLst/>
          </a:prstGeom>
          <a:solidFill>
            <a:srgbClr val="EBF0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1049331" y="3682519"/>
            <a:ext cx="1955100" cy="102900"/>
          </a:xfrm>
          <a:prstGeom prst="rect">
            <a:avLst/>
          </a:prstGeom>
          <a:solidFill>
            <a:srgbClr val="D3497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1"/>
          <p:cNvSpPr txBox="1"/>
          <p:nvPr/>
        </p:nvSpPr>
        <p:spPr>
          <a:xfrm>
            <a:off x="3573143" y="3661946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88.3%</a:t>
            </a:r>
            <a:endParaRPr sz="1100"/>
          </a:p>
        </p:txBody>
      </p:sp>
      <p:sp>
        <p:nvSpPr>
          <p:cNvPr id="511" name="Google Shape;511;p31"/>
          <p:cNvSpPr txBox="1"/>
          <p:nvPr/>
        </p:nvSpPr>
        <p:spPr>
          <a:xfrm>
            <a:off x="4121797" y="3661946"/>
            <a:ext cx="68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R$ 4,94 mi</a:t>
            </a:r>
            <a:endParaRPr sz="1100"/>
          </a:p>
        </p:txBody>
      </p:sp>
      <p:sp>
        <p:nvSpPr>
          <p:cNvPr id="512" name="Google Shape;512;p31"/>
          <p:cNvSpPr txBox="1"/>
          <p:nvPr/>
        </p:nvSpPr>
        <p:spPr>
          <a:xfrm>
            <a:off x="4841906" y="3661946"/>
            <a:ext cx="72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R$ 5,64 mi</a:t>
            </a:r>
            <a:endParaRPr sz="1100"/>
          </a:p>
        </p:txBody>
      </p:sp>
      <p:sp>
        <p:nvSpPr>
          <p:cNvPr id="513" name="Google Shape;513;p31"/>
          <p:cNvSpPr/>
          <p:nvPr/>
        </p:nvSpPr>
        <p:spPr>
          <a:xfrm>
            <a:off x="5904925" y="2482370"/>
            <a:ext cx="2743200" cy="1543200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1"/>
          <p:cNvSpPr txBox="1"/>
          <p:nvPr/>
        </p:nvSpPr>
        <p:spPr>
          <a:xfrm>
            <a:off x="6096954" y="2612672"/>
            <a:ext cx="2366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LEITURA DE ESCOPO</a:t>
            </a:r>
            <a:endParaRPr sz="1100"/>
          </a:p>
        </p:txBody>
      </p:sp>
      <p:sp>
        <p:nvSpPr>
          <p:cNvPr id="515" name="Google Shape;515;p31"/>
          <p:cNvSpPr txBox="1"/>
          <p:nvPr/>
        </p:nvSpPr>
        <p:spPr>
          <a:xfrm>
            <a:off x="6096954" y="2866418"/>
            <a:ext cx="2366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orçamento de GMV está estruturado para BOTI, EUD, OUI e QDB.</a:t>
            </a:r>
            <a:endParaRPr sz="1100"/>
          </a:p>
        </p:txBody>
      </p:sp>
      <p:sp>
        <p:nvSpPr>
          <p:cNvPr id="516" name="Google Shape;516;p31"/>
          <p:cNvSpPr txBox="1"/>
          <p:nvPr/>
        </p:nvSpPr>
        <p:spPr>
          <a:xfrm>
            <a:off x="6096954" y="3291614"/>
            <a:ext cx="2366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 aparece no realizado do canal, mas não possui orçamento documentado. Por isso, não usamos o GMV total do canal para calcular atingimento contra esse orçamento.</a:t>
            </a:r>
            <a:endParaRPr sz="1100"/>
          </a:p>
        </p:txBody>
      </p:sp>
      <p:sp>
        <p:nvSpPr>
          <p:cNvPr id="517" name="Google Shape;517;p31"/>
          <p:cNvSpPr/>
          <p:nvPr/>
        </p:nvSpPr>
        <p:spPr>
          <a:xfrm>
            <a:off x="473256" y="4203961"/>
            <a:ext cx="8175000" cy="58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1"/>
          <p:cNvSpPr txBox="1"/>
          <p:nvPr/>
        </p:nvSpPr>
        <p:spPr>
          <a:xfrm>
            <a:off x="617236" y="4217918"/>
            <a:ext cx="1337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D3497E"/>
                </a:solidFill>
              </a:rPr>
              <a:t>Observação:</a:t>
            </a:r>
            <a:endParaRPr sz="1100"/>
          </a:p>
        </p:txBody>
      </p:sp>
      <p:sp>
        <p:nvSpPr>
          <p:cNvPr id="519" name="Google Shape;519;p31"/>
          <p:cNvSpPr txBox="1"/>
          <p:nvPr/>
        </p:nvSpPr>
        <p:spPr>
          <a:xfrm>
            <a:off x="1405927" y="4330136"/>
            <a:ext cx="7029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Para comparar atingimento, mantive o mesmo escopo entre realizado e orçado. O GMV total do canal não é diretamente comparável ao orçamento das quatro marcas.</a:t>
            </a:r>
            <a:endParaRPr sz="1100">
              <a:solidFill>
                <a:srgbClr val="0D2743"/>
              </a:solidFill>
            </a:endParaRPr>
          </a:p>
        </p:txBody>
      </p:sp>
      <p:sp>
        <p:nvSpPr>
          <p:cNvPr id="520" name="Google Shape;520;p31"/>
          <p:cNvSpPr txBox="1"/>
          <p:nvPr/>
        </p:nvSpPr>
        <p:spPr>
          <a:xfrm>
            <a:off x="466356" y="4882896"/>
            <a:ext cx="822981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Ciclo 2025-16 • valores arredondados para apresentação</a:t>
            </a:r>
            <a:endParaRPr sz="1100"/>
          </a:p>
        </p:txBody>
      </p:sp>
      <p:grpSp>
        <p:nvGrpSpPr>
          <p:cNvPr id="521" name="Google Shape;521;p31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522" name="Google Shape;522;p31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1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"/>
          <p:cNvSpPr txBox="1"/>
          <p:nvPr/>
        </p:nvSpPr>
        <p:spPr>
          <a:xfrm>
            <a:off x="445782" y="482433"/>
            <a:ext cx="8229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D2743"/>
                </a:solidFill>
              </a:rPr>
              <a:t>Diagnóstico | ciclo 2025-16 | </a:t>
            </a:r>
            <a:r>
              <a:rPr b="1" i="0" lang="pt-BR" sz="11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O ciclo mostra uma população acima do planejado, mas com comportamentos diferentes entre marcas e movimentos da base</a:t>
            </a:r>
            <a:endParaRPr sz="1100"/>
          </a:p>
        </p:txBody>
      </p:sp>
      <p:sp>
        <p:nvSpPr>
          <p:cNvPr id="529" name="Google Shape;529;p32"/>
          <p:cNvSpPr txBox="1"/>
          <p:nvPr/>
        </p:nvSpPr>
        <p:spPr>
          <a:xfrm>
            <a:off x="445782" y="916104"/>
            <a:ext cx="8229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Os indicadores abaixo descrevem o resultado observado; as relações causais permanecem como hipóteses a validar.</a:t>
            </a:r>
            <a:endParaRPr b="0" i="0" sz="800" u="none" cap="none" strike="noStrike">
              <a:solidFill>
                <a:srgbClr val="6477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78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647784"/>
                </a:solidFill>
              </a:rPr>
              <a:t>Síntese visual para apresentação • exploração detalhada no dashboard.</a:t>
            </a:r>
            <a:r>
              <a:rPr b="1" i="0" lang="pt-BR" sz="800" u="none" cap="none" strike="noStrike">
                <a:solidFill>
                  <a:srgbClr val="647784"/>
                </a:solidFill>
              </a:rPr>
              <a:t> </a:t>
            </a:r>
            <a:endParaRPr b="1" i="0" sz="800" u="none" cap="none" strike="noStrike">
              <a:solidFill>
                <a:srgbClr val="64778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784"/>
              </a:solidFill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466356" y="1457508"/>
            <a:ext cx="2640300" cy="212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 txBox="1"/>
          <p:nvPr/>
        </p:nvSpPr>
        <p:spPr>
          <a:xfrm>
            <a:off x="617236" y="1574093"/>
            <a:ext cx="22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POPULAÇÃO DO CANAL</a:t>
            </a:r>
            <a:endParaRPr sz="1100"/>
          </a:p>
        </p:txBody>
      </p:sp>
      <p:sp>
        <p:nvSpPr>
          <p:cNvPr id="532" name="Google Shape;532;p32"/>
          <p:cNvSpPr txBox="1"/>
          <p:nvPr/>
        </p:nvSpPr>
        <p:spPr>
          <a:xfrm>
            <a:off x="617236" y="1834698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1100"/>
          </a:p>
        </p:txBody>
      </p:sp>
      <p:sp>
        <p:nvSpPr>
          <p:cNvPr id="533" name="Google Shape;533;p32"/>
          <p:cNvSpPr txBox="1"/>
          <p:nvPr/>
        </p:nvSpPr>
        <p:spPr>
          <a:xfrm>
            <a:off x="1371637" y="1834698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102,64%</a:t>
            </a:r>
            <a:endParaRPr sz="1100"/>
          </a:p>
        </p:txBody>
      </p:sp>
      <p:sp>
        <p:nvSpPr>
          <p:cNvPr id="534" name="Google Shape;534;p32"/>
          <p:cNvSpPr txBox="1"/>
          <p:nvPr/>
        </p:nvSpPr>
        <p:spPr>
          <a:xfrm>
            <a:off x="1934008" y="1834698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Acima do orçamento</a:t>
            </a:r>
            <a:endParaRPr sz="1100"/>
          </a:p>
        </p:txBody>
      </p:sp>
      <p:sp>
        <p:nvSpPr>
          <p:cNvPr id="535" name="Google Shape;535;p32"/>
          <p:cNvSpPr txBox="1"/>
          <p:nvPr/>
        </p:nvSpPr>
        <p:spPr>
          <a:xfrm>
            <a:off x="617236" y="2109018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Base Ativa</a:t>
            </a:r>
            <a:endParaRPr sz="1100"/>
          </a:p>
        </p:txBody>
      </p:sp>
      <p:sp>
        <p:nvSpPr>
          <p:cNvPr id="536" name="Google Shape;536;p32"/>
          <p:cNvSpPr txBox="1"/>
          <p:nvPr/>
        </p:nvSpPr>
        <p:spPr>
          <a:xfrm>
            <a:off x="1371637" y="2109018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102,96%</a:t>
            </a:r>
            <a:endParaRPr sz="1100"/>
          </a:p>
        </p:txBody>
      </p:sp>
      <p:sp>
        <p:nvSpPr>
          <p:cNvPr id="537" name="Google Shape;537;p32"/>
          <p:cNvSpPr txBox="1"/>
          <p:nvPr/>
        </p:nvSpPr>
        <p:spPr>
          <a:xfrm>
            <a:off x="1934008" y="2109018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Acima do orçamento</a:t>
            </a:r>
            <a:endParaRPr sz="1100"/>
          </a:p>
        </p:txBody>
      </p:sp>
      <p:sp>
        <p:nvSpPr>
          <p:cNvPr id="538" name="Google Shape;538;p32"/>
          <p:cNvSpPr txBox="1"/>
          <p:nvPr/>
        </p:nvSpPr>
        <p:spPr>
          <a:xfrm>
            <a:off x="617236" y="2383338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Ativas</a:t>
            </a:r>
            <a:endParaRPr sz="1100"/>
          </a:p>
        </p:txBody>
      </p:sp>
      <p:sp>
        <p:nvSpPr>
          <p:cNvPr id="539" name="Google Shape;539;p32"/>
          <p:cNvSpPr txBox="1"/>
          <p:nvPr/>
        </p:nvSpPr>
        <p:spPr>
          <a:xfrm>
            <a:off x="1371637" y="2383338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104,09%</a:t>
            </a:r>
            <a:endParaRPr sz="1100"/>
          </a:p>
        </p:txBody>
      </p:sp>
      <p:sp>
        <p:nvSpPr>
          <p:cNvPr id="540" name="Google Shape;540;p32"/>
          <p:cNvSpPr txBox="1"/>
          <p:nvPr/>
        </p:nvSpPr>
        <p:spPr>
          <a:xfrm>
            <a:off x="1934008" y="2383338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Acima do orçamento</a:t>
            </a:r>
            <a:endParaRPr sz="1100"/>
          </a:p>
        </p:txBody>
      </p:sp>
      <p:sp>
        <p:nvSpPr>
          <p:cNvPr id="541" name="Google Shape;541;p32"/>
          <p:cNvSpPr txBox="1"/>
          <p:nvPr/>
        </p:nvSpPr>
        <p:spPr>
          <a:xfrm>
            <a:off x="617236" y="2657658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Perdas</a:t>
            </a:r>
            <a:endParaRPr sz="1100">
              <a:highlight>
                <a:srgbClr val="E6B8AF"/>
              </a:highlight>
            </a:endParaRPr>
          </a:p>
        </p:txBody>
      </p:sp>
      <p:sp>
        <p:nvSpPr>
          <p:cNvPr id="542" name="Google Shape;542;p32"/>
          <p:cNvSpPr txBox="1"/>
          <p:nvPr/>
        </p:nvSpPr>
        <p:spPr>
          <a:xfrm>
            <a:off x="1371637" y="2657658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103,09%</a:t>
            </a:r>
            <a:endParaRPr sz="1100">
              <a:highlight>
                <a:srgbClr val="E6B8AF"/>
              </a:highlight>
            </a:endParaRPr>
          </a:p>
        </p:txBody>
      </p:sp>
      <p:sp>
        <p:nvSpPr>
          <p:cNvPr id="543" name="Google Shape;543;p32"/>
          <p:cNvSpPr txBox="1"/>
          <p:nvPr/>
        </p:nvSpPr>
        <p:spPr>
          <a:xfrm>
            <a:off x="1934008" y="2657658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Acima do orçamento</a:t>
            </a:r>
            <a:endParaRPr sz="1100">
              <a:highlight>
                <a:srgbClr val="E6B8AF"/>
              </a:highlight>
            </a:endParaRPr>
          </a:p>
        </p:txBody>
      </p:sp>
      <p:sp>
        <p:nvSpPr>
          <p:cNvPr id="544" name="Google Shape;544;p32"/>
          <p:cNvSpPr txBox="1"/>
          <p:nvPr/>
        </p:nvSpPr>
        <p:spPr>
          <a:xfrm>
            <a:off x="617236" y="2931978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Inícios</a:t>
            </a:r>
            <a:endParaRPr sz="1100"/>
          </a:p>
        </p:txBody>
      </p:sp>
      <p:sp>
        <p:nvSpPr>
          <p:cNvPr id="545" name="Google Shape;545;p32"/>
          <p:cNvSpPr txBox="1"/>
          <p:nvPr/>
        </p:nvSpPr>
        <p:spPr>
          <a:xfrm>
            <a:off x="1371637" y="2931978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97,56%</a:t>
            </a:r>
            <a:endParaRPr sz="1100"/>
          </a:p>
        </p:txBody>
      </p:sp>
      <p:sp>
        <p:nvSpPr>
          <p:cNvPr id="546" name="Google Shape;546;p32"/>
          <p:cNvSpPr txBox="1"/>
          <p:nvPr/>
        </p:nvSpPr>
        <p:spPr>
          <a:xfrm>
            <a:off x="1934008" y="2931978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Abaixo do orçamento</a:t>
            </a:r>
            <a:endParaRPr sz="1100"/>
          </a:p>
        </p:txBody>
      </p:sp>
      <p:sp>
        <p:nvSpPr>
          <p:cNvPr id="547" name="Google Shape;547;p32"/>
          <p:cNvSpPr txBox="1"/>
          <p:nvPr/>
        </p:nvSpPr>
        <p:spPr>
          <a:xfrm>
            <a:off x="617236" y="3206297"/>
            <a:ext cx="7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Reinícios</a:t>
            </a:r>
            <a:endParaRPr sz="1100"/>
          </a:p>
        </p:txBody>
      </p:sp>
      <p:sp>
        <p:nvSpPr>
          <p:cNvPr id="548" name="Google Shape;548;p32"/>
          <p:cNvSpPr txBox="1"/>
          <p:nvPr/>
        </p:nvSpPr>
        <p:spPr>
          <a:xfrm>
            <a:off x="1371637" y="3206297"/>
            <a:ext cx="49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98,91%</a:t>
            </a:r>
            <a:endParaRPr sz="1100"/>
          </a:p>
        </p:txBody>
      </p:sp>
      <p:sp>
        <p:nvSpPr>
          <p:cNvPr id="549" name="Google Shape;549;p32"/>
          <p:cNvSpPr txBox="1"/>
          <p:nvPr/>
        </p:nvSpPr>
        <p:spPr>
          <a:xfrm>
            <a:off x="1934008" y="3206297"/>
            <a:ext cx="97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Abaixo do orçamento</a:t>
            </a:r>
            <a:endParaRPr sz="1100"/>
          </a:p>
        </p:txBody>
      </p:sp>
      <p:sp>
        <p:nvSpPr>
          <p:cNvPr id="550" name="Google Shape;550;p32"/>
          <p:cNvSpPr/>
          <p:nvPr/>
        </p:nvSpPr>
        <p:spPr>
          <a:xfrm>
            <a:off x="3278211" y="1457508"/>
            <a:ext cx="2743200" cy="212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2"/>
          <p:cNvSpPr txBox="1"/>
          <p:nvPr/>
        </p:nvSpPr>
        <p:spPr>
          <a:xfrm>
            <a:off x="3429091" y="1574093"/>
            <a:ext cx="243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ALCANCE DAS MARCAS</a:t>
            </a:r>
            <a:endParaRPr sz="1100"/>
          </a:p>
        </p:txBody>
      </p:sp>
      <p:sp>
        <p:nvSpPr>
          <p:cNvPr id="552" name="Google Shape;552;p32"/>
          <p:cNvSpPr txBox="1"/>
          <p:nvPr/>
        </p:nvSpPr>
        <p:spPr>
          <a:xfrm>
            <a:off x="3442808" y="1903278"/>
            <a:ext cx="37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BOTI</a:t>
            </a:r>
            <a:endParaRPr sz="1100"/>
          </a:p>
        </p:txBody>
      </p:sp>
      <p:sp>
        <p:nvSpPr>
          <p:cNvPr id="553" name="Google Shape;553;p32"/>
          <p:cNvSpPr txBox="1"/>
          <p:nvPr/>
        </p:nvSpPr>
        <p:spPr>
          <a:xfrm>
            <a:off x="3922881" y="1903278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D6389"/>
                </a:solidFill>
                <a:latin typeface="Arial"/>
                <a:ea typeface="Arial"/>
                <a:cs typeface="Arial"/>
                <a:sym typeface="Arial"/>
              </a:rPr>
              <a:t>+5,11%</a:t>
            </a:r>
            <a:endParaRPr sz="1100"/>
          </a:p>
        </p:txBody>
      </p:sp>
      <p:sp>
        <p:nvSpPr>
          <p:cNvPr id="554" name="Google Shape;554;p32"/>
          <p:cNvSpPr txBox="1"/>
          <p:nvPr/>
        </p:nvSpPr>
        <p:spPr>
          <a:xfrm>
            <a:off x="4718430" y="1903278"/>
            <a:ext cx="92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vs orçamento</a:t>
            </a:r>
            <a:endParaRPr sz="1100"/>
          </a:p>
        </p:txBody>
      </p:sp>
      <p:sp>
        <p:nvSpPr>
          <p:cNvPr id="555" name="Google Shape;555;p32"/>
          <p:cNvSpPr txBox="1"/>
          <p:nvPr/>
        </p:nvSpPr>
        <p:spPr>
          <a:xfrm>
            <a:off x="3442808" y="2259894"/>
            <a:ext cx="37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EUD</a:t>
            </a:r>
            <a:endParaRPr sz="1100"/>
          </a:p>
        </p:txBody>
      </p:sp>
      <p:sp>
        <p:nvSpPr>
          <p:cNvPr id="556" name="Google Shape;556;p32"/>
          <p:cNvSpPr txBox="1"/>
          <p:nvPr/>
        </p:nvSpPr>
        <p:spPr>
          <a:xfrm>
            <a:off x="3922881" y="2259894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D6389"/>
                </a:solidFill>
                <a:latin typeface="Arial"/>
                <a:ea typeface="Arial"/>
                <a:cs typeface="Arial"/>
                <a:sym typeface="Arial"/>
              </a:rPr>
              <a:t>+1,18%</a:t>
            </a:r>
            <a:endParaRPr sz="1100"/>
          </a:p>
        </p:txBody>
      </p:sp>
      <p:sp>
        <p:nvSpPr>
          <p:cNvPr id="557" name="Google Shape;557;p32"/>
          <p:cNvSpPr txBox="1"/>
          <p:nvPr/>
        </p:nvSpPr>
        <p:spPr>
          <a:xfrm>
            <a:off x="4718430" y="2259894"/>
            <a:ext cx="92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vs orçamento</a:t>
            </a:r>
            <a:endParaRPr sz="1100"/>
          </a:p>
        </p:txBody>
      </p:sp>
      <p:sp>
        <p:nvSpPr>
          <p:cNvPr id="558" name="Google Shape;558;p32"/>
          <p:cNvSpPr txBox="1"/>
          <p:nvPr/>
        </p:nvSpPr>
        <p:spPr>
          <a:xfrm>
            <a:off x="3442808" y="2616510"/>
            <a:ext cx="37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OUI</a:t>
            </a:r>
            <a:endParaRPr sz="1100"/>
          </a:p>
        </p:txBody>
      </p:sp>
      <p:sp>
        <p:nvSpPr>
          <p:cNvPr id="559" name="Google Shape;559;p32"/>
          <p:cNvSpPr txBox="1"/>
          <p:nvPr/>
        </p:nvSpPr>
        <p:spPr>
          <a:xfrm>
            <a:off x="3922881" y="261651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-27,29%</a:t>
            </a:r>
            <a:endParaRPr sz="1100"/>
          </a:p>
        </p:txBody>
      </p:sp>
      <p:sp>
        <p:nvSpPr>
          <p:cNvPr id="560" name="Google Shape;560;p32"/>
          <p:cNvSpPr txBox="1"/>
          <p:nvPr/>
        </p:nvSpPr>
        <p:spPr>
          <a:xfrm>
            <a:off x="4718430" y="2616510"/>
            <a:ext cx="92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vs orçamento</a:t>
            </a:r>
            <a:endParaRPr sz="1100"/>
          </a:p>
        </p:txBody>
      </p:sp>
      <p:sp>
        <p:nvSpPr>
          <p:cNvPr id="561" name="Google Shape;561;p32"/>
          <p:cNvSpPr txBox="1"/>
          <p:nvPr/>
        </p:nvSpPr>
        <p:spPr>
          <a:xfrm>
            <a:off x="3442808" y="2973126"/>
            <a:ext cx="37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QDB</a:t>
            </a:r>
            <a:endParaRPr sz="1100"/>
          </a:p>
        </p:txBody>
      </p:sp>
      <p:sp>
        <p:nvSpPr>
          <p:cNvPr id="562" name="Google Shape;562;p32"/>
          <p:cNvSpPr txBox="1"/>
          <p:nvPr/>
        </p:nvSpPr>
        <p:spPr>
          <a:xfrm>
            <a:off x="3922881" y="2973126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-17,61%</a:t>
            </a:r>
            <a:endParaRPr sz="1100"/>
          </a:p>
        </p:txBody>
      </p:sp>
      <p:sp>
        <p:nvSpPr>
          <p:cNvPr id="563" name="Google Shape;563;p32"/>
          <p:cNvSpPr txBox="1"/>
          <p:nvPr/>
        </p:nvSpPr>
        <p:spPr>
          <a:xfrm>
            <a:off x="4718430" y="2973126"/>
            <a:ext cx="92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vs orçamento</a:t>
            </a:r>
            <a:endParaRPr sz="1100"/>
          </a:p>
        </p:txBody>
      </p:sp>
      <p:sp>
        <p:nvSpPr>
          <p:cNvPr id="564" name="Google Shape;564;p32"/>
          <p:cNvSpPr txBox="1"/>
          <p:nvPr/>
        </p:nvSpPr>
        <p:spPr>
          <a:xfrm>
            <a:off x="3442808" y="3302310"/>
            <a:ext cx="236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Compradores mostram desempenhos diferentes por marca.</a:t>
            </a:r>
            <a:endParaRPr sz="1100"/>
          </a:p>
        </p:txBody>
      </p:sp>
      <p:sp>
        <p:nvSpPr>
          <p:cNvPr id="565" name="Google Shape;565;p32"/>
          <p:cNvSpPr/>
          <p:nvPr/>
        </p:nvSpPr>
        <p:spPr>
          <a:xfrm>
            <a:off x="6192938" y="1457508"/>
            <a:ext cx="2448300" cy="2126100"/>
          </a:xfrm>
          <a:prstGeom prst="roundRect">
            <a:avLst>
              <a:gd fmla="val 16667" name="adj"/>
            </a:avLst>
          </a:prstGeom>
          <a:solidFill>
            <a:srgbClr val="0D2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 txBox="1"/>
          <p:nvPr/>
        </p:nvSpPr>
        <p:spPr>
          <a:xfrm>
            <a:off x="6364394" y="1574093"/>
            <a:ext cx="209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AE5ED"/>
                </a:solidFill>
                <a:latin typeface="Arial"/>
                <a:ea typeface="Arial"/>
                <a:cs typeface="Arial"/>
                <a:sym typeface="Arial"/>
              </a:rPr>
              <a:t>PRODUTIVIDADE</a:t>
            </a:r>
            <a:endParaRPr sz="1100"/>
          </a:p>
        </p:txBody>
      </p:sp>
      <p:sp>
        <p:nvSpPr>
          <p:cNvPr id="567" name="Google Shape;567;p32"/>
          <p:cNvSpPr txBox="1"/>
          <p:nvPr/>
        </p:nvSpPr>
        <p:spPr>
          <a:xfrm>
            <a:off x="6364394" y="1862130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RPA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68" name="Google Shape;568;p32"/>
          <p:cNvSpPr txBox="1"/>
          <p:nvPr/>
        </p:nvSpPr>
        <p:spPr>
          <a:xfrm>
            <a:off x="6364394" y="2061012"/>
            <a:ext cx="2091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R$ 1,64 mil</a:t>
            </a:r>
            <a:endParaRPr sz="1100"/>
          </a:p>
        </p:txBody>
      </p:sp>
      <p:sp>
        <p:nvSpPr>
          <p:cNvPr id="569" name="Google Shape;569;p32"/>
          <p:cNvSpPr txBox="1"/>
          <p:nvPr/>
        </p:nvSpPr>
        <p:spPr>
          <a:xfrm>
            <a:off x="6364394" y="2458776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UPA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6364394" y="2657658"/>
            <a:ext cx="2091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22,57</a:t>
            </a:r>
            <a:endParaRPr sz="1100"/>
          </a:p>
        </p:txBody>
      </p:sp>
      <p:sp>
        <p:nvSpPr>
          <p:cNvPr id="571" name="Google Shape;571;p32"/>
          <p:cNvSpPr txBox="1"/>
          <p:nvPr/>
        </p:nvSpPr>
        <p:spPr>
          <a:xfrm>
            <a:off x="6364394" y="3103428"/>
            <a:ext cx="2091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de produtividade devem ser lidos junto da população ativa.</a:t>
            </a:r>
            <a:endParaRPr sz="1100"/>
          </a:p>
        </p:txBody>
      </p:sp>
      <p:sp>
        <p:nvSpPr>
          <p:cNvPr id="572" name="Google Shape;572;p32"/>
          <p:cNvSpPr/>
          <p:nvPr/>
        </p:nvSpPr>
        <p:spPr>
          <a:xfrm>
            <a:off x="466356" y="3789228"/>
            <a:ext cx="81750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E5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 txBox="1"/>
          <p:nvPr/>
        </p:nvSpPr>
        <p:spPr>
          <a:xfrm>
            <a:off x="630953" y="3912672"/>
            <a:ext cx="1405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D3497E"/>
                </a:solidFill>
                <a:latin typeface="Arial"/>
                <a:ea typeface="Arial"/>
                <a:cs typeface="Arial"/>
                <a:sym typeface="Arial"/>
              </a:rPr>
              <a:t>PRINCIPAL LEITURA</a:t>
            </a:r>
            <a:endParaRPr sz="1100"/>
          </a:p>
        </p:txBody>
      </p:sp>
      <p:sp>
        <p:nvSpPr>
          <p:cNvPr id="574" name="Google Shape;574;p32"/>
          <p:cNvSpPr txBox="1"/>
          <p:nvPr/>
        </p:nvSpPr>
        <p:spPr>
          <a:xfrm>
            <a:off x="630953" y="4132128"/>
            <a:ext cx="7647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D2743"/>
                </a:solidFill>
                <a:latin typeface="Arial"/>
                <a:ea typeface="Arial"/>
                <a:cs typeface="Arial"/>
                <a:sym typeface="Arial"/>
              </a:rPr>
              <a:t>População acima do planejado não garantiu, isoladamente, o resultado financeiro esperado. O diagnóstico precisa combinar tamanho da população, movimentação, marcas e produtividade.</a:t>
            </a:r>
            <a:endParaRPr sz="1100"/>
          </a:p>
        </p:txBody>
      </p:sp>
      <p:sp>
        <p:nvSpPr>
          <p:cNvPr id="575" name="Google Shape;575;p32"/>
          <p:cNvSpPr txBox="1"/>
          <p:nvPr/>
        </p:nvSpPr>
        <p:spPr>
          <a:xfrm>
            <a:off x="630953" y="4442733"/>
            <a:ext cx="7647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Fato observado ≠ causalidade: a relação entre esses indicadores deve ser investigada antes de atribuir uma causa ao resultado.</a:t>
            </a:r>
            <a:endParaRPr sz="1100"/>
          </a:p>
        </p:txBody>
      </p:sp>
      <p:sp>
        <p:nvSpPr>
          <p:cNvPr id="576" name="Google Shape;576;p32"/>
          <p:cNvSpPr txBox="1"/>
          <p:nvPr/>
        </p:nvSpPr>
        <p:spPr>
          <a:xfrm>
            <a:off x="466356" y="4882896"/>
            <a:ext cx="8229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47784"/>
                </a:solidFill>
                <a:latin typeface="Arial"/>
                <a:ea typeface="Arial"/>
                <a:cs typeface="Arial"/>
                <a:sym typeface="Arial"/>
              </a:rPr>
              <a:t>Ciclo 2025-16 • atingimento = realizado ÷ orçado</a:t>
            </a:r>
            <a:endParaRPr sz="1100"/>
          </a:p>
        </p:txBody>
      </p:sp>
      <p:grpSp>
        <p:nvGrpSpPr>
          <p:cNvPr id="577" name="Google Shape;577;p32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578" name="Google Shape;578;p32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2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8F5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"/>
          <p:cNvSpPr txBox="1"/>
          <p:nvPr/>
        </p:nvSpPr>
        <p:spPr>
          <a:xfrm>
            <a:off x="283900" y="643944"/>
            <a:ext cx="809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O que o diagnóstico mostra e o que merece aprofundamento</a:t>
            </a:r>
            <a:endParaRPr sz="1100">
              <a:solidFill>
                <a:srgbClr val="696969"/>
              </a:solidFill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445782" y="994410"/>
            <a:ext cx="4046328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E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445782" y="994410"/>
            <a:ext cx="61724" cy="1611630"/>
          </a:xfrm>
          <a:prstGeom prst="rect">
            <a:avLst/>
          </a:prstGeom>
          <a:solidFill>
            <a:srgbClr val="2C537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3"/>
          <p:cNvSpPr txBox="1"/>
          <p:nvPr/>
        </p:nvSpPr>
        <p:spPr>
          <a:xfrm>
            <a:off x="617236" y="1131570"/>
            <a:ext cx="377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C537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588" name="Google Shape;588;p33"/>
          <p:cNvSpPr txBox="1"/>
          <p:nvPr/>
        </p:nvSpPr>
        <p:spPr>
          <a:xfrm>
            <a:off x="617236" y="1419605"/>
            <a:ext cx="3703419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D1F39"/>
                </a:solidFill>
                <a:latin typeface="Arial"/>
                <a:ea typeface="Arial"/>
                <a:cs typeface="Arial"/>
                <a:sym typeface="Arial"/>
              </a:rPr>
              <a:t>PRINCIPAL APRENDIZADO</a:t>
            </a:r>
            <a:endParaRPr sz="1100"/>
          </a:p>
        </p:txBody>
      </p:sp>
      <p:sp>
        <p:nvSpPr>
          <p:cNvPr id="589" name="Google Shape;589;p33"/>
          <p:cNvSpPr txBox="1"/>
          <p:nvPr/>
        </p:nvSpPr>
        <p:spPr>
          <a:xfrm>
            <a:off x="617236" y="1735074"/>
            <a:ext cx="3703419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33040"/>
                </a:solidFill>
                <a:latin typeface="Arial"/>
                <a:ea typeface="Arial"/>
                <a:cs typeface="Arial"/>
                <a:sym typeface="Arial"/>
              </a:rPr>
              <a:t>População acima do planejado não garantiu, isoladamente, o resultado financeiro esperado. O diagnóstico precisa combinar tamanho da população, movimentação, marcas e produtividade.</a:t>
            </a:r>
            <a:endParaRPr sz="1100"/>
          </a:p>
        </p:txBody>
      </p:sp>
      <p:sp>
        <p:nvSpPr>
          <p:cNvPr id="590" name="Google Shape;590;p33"/>
          <p:cNvSpPr/>
          <p:nvPr/>
        </p:nvSpPr>
        <p:spPr>
          <a:xfrm>
            <a:off x="4649848" y="994410"/>
            <a:ext cx="4046328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E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4649848" y="994410"/>
            <a:ext cx="61724" cy="1611630"/>
          </a:xfrm>
          <a:prstGeom prst="rect">
            <a:avLst/>
          </a:prstGeom>
          <a:solidFill>
            <a:srgbClr val="D641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3"/>
          <p:cNvSpPr txBox="1"/>
          <p:nvPr/>
        </p:nvSpPr>
        <p:spPr>
          <a:xfrm>
            <a:off x="4821303" y="1131570"/>
            <a:ext cx="377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6417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593" name="Google Shape;593;p33"/>
          <p:cNvSpPr txBox="1"/>
          <p:nvPr/>
        </p:nvSpPr>
        <p:spPr>
          <a:xfrm>
            <a:off x="4821303" y="1419605"/>
            <a:ext cx="3703419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D1F39"/>
                </a:solidFill>
                <a:latin typeface="Arial"/>
                <a:ea typeface="Arial"/>
                <a:cs typeface="Arial"/>
                <a:sym typeface="Arial"/>
              </a:rPr>
              <a:t>PONTO DE ATENÇÃO</a:t>
            </a:r>
            <a:endParaRPr sz="1100"/>
          </a:p>
        </p:txBody>
      </p:sp>
      <p:sp>
        <p:nvSpPr>
          <p:cNvPr id="594" name="Google Shape;594;p33"/>
          <p:cNvSpPr txBox="1"/>
          <p:nvPr/>
        </p:nvSpPr>
        <p:spPr>
          <a:xfrm>
            <a:off x="4821303" y="1735074"/>
            <a:ext cx="3703419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33040"/>
                </a:solidFill>
                <a:latin typeface="Arial"/>
                <a:ea typeface="Arial"/>
                <a:cs typeface="Arial"/>
                <a:sym typeface="Arial"/>
              </a:rPr>
              <a:t>Perdas ficaram acima do orçamento, enquanto Inícios e Reinícios ficaram abaixo do planejado. Acompanhar essa dinâmica é importante para entender a sustentação da base nos próximos ciclos.</a:t>
            </a:r>
            <a:endParaRPr sz="1100"/>
          </a:p>
        </p:txBody>
      </p:sp>
      <p:sp>
        <p:nvSpPr>
          <p:cNvPr id="595" name="Google Shape;595;p33"/>
          <p:cNvSpPr/>
          <p:nvPr/>
        </p:nvSpPr>
        <p:spPr>
          <a:xfrm>
            <a:off x="445782" y="2777490"/>
            <a:ext cx="4046328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E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3"/>
          <p:cNvSpPr/>
          <p:nvPr/>
        </p:nvSpPr>
        <p:spPr>
          <a:xfrm>
            <a:off x="445782" y="2777490"/>
            <a:ext cx="61724" cy="1611630"/>
          </a:xfrm>
          <a:prstGeom prst="rect">
            <a:avLst/>
          </a:prstGeom>
          <a:solidFill>
            <a:srgbClr val="2C537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3"/>
          <p:cNvSpPr txBox="1"/>
          <p:nvPr/>
        </p:nvSpPr>
        <p:spPr>
          <a:xfrm>
            <a:off x="617236" y="2914650"/>
            <a:ext cx="377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2C537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598" name="Google Shape;598;p33"/>
          <p:cNvSpPr txBox="1"/>
          <p:nvPr/>
        </p:nvSpPr>
        <p:spPr>
          <a:xfrm>
            <a:off x="617236" y="3202686"/>
            <a:ext cx="3703419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D1F39"/>
                </a:solidFill>
                <a:latin typeface="Arial"/>
                <a:ea typeface="Arial"/>
                <a:cs typeface="Arial"/>
                <a:sym typeface="Arial"/>
              </a:rPr>
              <a:t>OPORTUNIDADE</a:t>
            </a:r>
            <a:endParaRPr sz="1100"/>
          </a:p>
        </p:txBody>
      </p:sp>
      <p:sp>
        <p:nvSpPr>
          <p:cNvPr id="599" name="Google Shape;599;p33"/>
          <p:cNvSpPr txBox="1"/>
          <p:nvPr/>
        </p:nvSpPr>
        <p:spPr>
          <a:xfrm>
            <a:off x="617236" y="3518154"/>
            <a:ext cx="3703419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33040"/>
                </a:solidFill>
                <a:latin typeface="Arial"/>
                <a:ea typeface="Arial"/>
                <a:cs typeface="Arial"/>
                <a:sym typeface="Arial"/>
              </a:rPr>
              <a:t>Aprofundar a produtividade da população ativa e a contribuição das marcas, combinando RPA, UPA, compradores, penetração e GMV para identificar espaços de atuação.</a:t>
            </a:r>
            <a:endParaRPr sz="1100"/>
          </a:p>
        </p:txBody>
      </p:sp>
      <p:sp>
        <p:nvSpPr>
          <p:cNvPr id="600" name="Google Shape;600;p33"/>
          <p:cNvSpPr/>
          <p:nvPr/>
        </p:nvSpPr>
        <p:spPr>
          <a:xfrm>
            <a:off x="4649848" y="2777490"/>
            <a:ext cx="4046328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E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4649848" y="2777490"/>
            <a:ext cx="61724" cy="1611630"/>
          </a:xfrm>
          <a:prstGeom prst="rect">
            <a:avLst/>
          </a:prstGeom>
          <a:solidFill>
            <a:srgbClr val="D641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3"/>
          <p:cNvSpPr txBox="1"/>
          <p:nvPr/>
        </p:nvSpPr>
        <p:spPr>
          <a:xfrm>
            <a:off x="4821303" y="2914650"/>
            <a:ext cx="377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D6417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603" name="Google Shape;603;p33"/>
          <p:cNvSpPr txBox="1"/>
          <p:nvPr/>
        </p:nvSpPr>
        <p:spPr>
          <a:xfrm>
            <a:off x="4821303" y="3202686"/>
            <a:ext cx="3703419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D1F39"/>
                </a:solidFill>
                <a:latin typeface="Arial"/>
                <a:ea typeface="Arial"/>
                <a:cs typeface="Arial"/>
                <a:sym typeface="Arial"/>
              </a:rPr>
              <a:t>HIPÓTESE A VALIDAR</a:t>
            </a:r>
            <a:endParaRPr sz="1100"/>
          </a:p>
        </p:txBody>
      </p:sp>
      <p:sp>
        <p:nvSpPr>
          <p:cNvPr id="604" name="Google Shape;604;p33"/>
          <p:cNvSpPr txBox="1"/>
          <p:nvPr/>
        </p:nvSpPr>
        <p:spPr>
          <a:xfrm>
            <a:off x="4821303" y="3518154"/>
            <a:ext cx="3703419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33040"/>
                </a:solidFill>
                <a:latin typeface="Arial"/>
                <a:ea typeface="Arial"/>
                <a:cs typeface="Arial"/>
                <a:sym typeface="Arial"/>
              </a:rPr>
              <a:t>Diferenças entre compradores e GMV podem estar relacionadas à produtividade, volume ou composição do resultado. Essas relações precisam ser investigadas antes de atribuir causalidade.</a:t>
            </a:r>
            <a:endParaRPr sz="1100"/>
          </a:p>
        </p:txBody>
      </p:sp>
      <p:sp>
        <p:nvSpPr>
          <p:cNvPr id="605" name="Google Shape;605;p33"/>
          <p:cNvSpPr/>
          <p:nvPr/>
        </p:nvSpPr>
        <p:spPr>
          <a:xfrm>
            <a:off x="0" y="5"/>
            <a:ext cx="9144015" cy="0"/>
          </a:xfrm>
          <a:prstGeom prst="rect">
            <a:avLst/>
          </a:prstGeom>
          <a:solidFill>
            <a:srgbClr val="0D1F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 txBox="1"/>
          <p:nvPr/>
        </p:nvSpPr>
        <p:spPr>
          <a:xfrm>
            <a:off x="0" y="4966510"/>
            <a:ext cx="8161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rPr>
              <a:t>FATO OBSERVADO ≠ CAUSALIDADE  •  próximos aprofundamentos devem testar as hipóteses com dados</a:t>
            </a:r>
            <a:endParaRPr sz="1100">
              <a:solidFill>
                <a:srgbClr val="696969"/>
              </a:solidFill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215357" y="414958"/>
            <a:ext cx="8229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D2743"/>
                </a:solidFill>
              </a:rPr>
              <a:t>Síntese | ciclo 2025-16</a:t>
            </a:r>
            <a:endParaRPr b="1" sz="1100">
              <a:solidFill>
                <a:srgbClr val="0D274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D2743"/>
              </a:solidFill>
            </a:endParaRPr>
          </a:p>
        </p:txBody>
      </p:sp>
      <p:grpSp>
        <p:nvGrpSpPr>
          <p:cNvPr id="608" name="Google Shape;608;p33"/>
          <p:cNvGrpSpPr/>
          <p:nvPr/>
        </p:nvGrpSpPr>
        <p:grpSpPr>
          <a:xfrm>
            <a:off x="9263" y="-8074"/>
            <a:ext cx="9144000" cy="356700"/>
            <a:chOff x="0" y="0"/>
            <a:chExt cx="9144000" cy="356700"/>
          </a:xfrm>
        </p:grpSpPr>
        <p:sp>
          <p:nvSpPr>
            <p:cNvPr id="609" name="Google Shape;609;p33"/>
            <p:cNvSpPr/>
            <p:nvPr/>
          </p:nvSpPr>
          <p:spPr>
            <a:xfrm>
              <a:off x="0" y="0"/>
              <a:ext cx="9144000" cy="356700"/>
            </a:xfrm>
            <a:prstGeom prst="rect">
              <a:avLst/>
            </a:prstGeom>
            <a:solidFill>
              <a:srgbClr val="0B2748"/>
            </a:solidFill>
            <a:ln cap="flat" cmpd="sng" w="9525">
              <a:solidFill>
                <a:srgbClr val="0B274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3"/>
            <p:cNvSpPr txBox="1"/>
            <p:nvPr/>
          </p:nvSpPr>
          <p:spPr>
            <a:xfrm>
              <a:off x="7235383" y="96012"/>
              <a:ext cx="14745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CASE DADOS &amp; ANALYTICS</a:t>
              </a:r>
              <a:endParaRPr sz="11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/>
          <p:nvPr/>
        </p:nvSpPr>
        <p:spPr>
          <a:xfrm>
            <a:off x="0" y="0"/>
            <a:ext cx="5315092" cy="5143500"/>
          </a:xfrm>
          <a:prstGeom prst="rect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4"/>
          <p:cNvSpPr/>
          <p:nvPr/>
        </p:nvSpPr>
        <p:spPr>
          <a:xfrm>
            <a:off x="5315092" y="0"/>
            <a:ext cx="3828900" cy="5143500"/>
          </a:xfrm>
          <a:prstGeom prst="rect">
            <a:avLst/>
          </a:prstGeom>
          <a:solidFill>
            <a:srgbClr val="E8EB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5109346" y="672084"/>
            <a:ext cx="54865" cy="3826764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 txBox="1"/>
          <p:nvPr/>
        </p:nvSpPr>
        <p:spPr>
          <a:xfrm>
            <a:off x="493789" y="425196"/>
            <a:ext cx="33605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GRUPO BOTICÁRIO  |  CASE DADOS &amp; ANALYTICS</a:t>
            </a:r>
            <a:endParaRPr sz="1100"/>
          </a:p>
        </p:txBody>
      </p:sp>
      <p:sp>
        <p:nvSpPr>
          <p:cNvPr id="619" name="Google Shape;619;p34"/>
          <p:cNvSpPr txBox="1"/>
          <p:nvPr/>
        </p:nvSpPr>
        <p:spPr>
          <a:xfrm>
            <a:off x="493789" y="1179576"/>
            <a:ext cx="411491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Obrigada!</a:t>
            </a:r>
            <a:endParaRPr sz="1100"/>
          </a:p>
        </p:txBody>
      </p:sp>
      <p:sp>
        <p:nvSpPr>
          <p:cNvPr id="620" name="Google Shape;620;p34"/>
          <p:cNvSpPr txBox="1"/>
          <p:nvPr/>
        </p:nvSpPr>
        <p:spPr>
          <a:xfrm>
            <a:off x="507506" y="1748790"/>
            <a:ext cx="4011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 informação ao diagnóstico.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diagnóstico à decisão.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514364" y="2414016"/>
            <a:ext cx="973862" cy="41148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 txBox="1"/>
          <p:nvPr/>
        </p:nvSpPr>
        <p:spPr>
          <a:xfrm>
            <a:off x="514364" y="2640330"/>
            <a:ext cx="39091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D1DCE7"/>
                </a:solidFill>
                <a:latin typeface="Arial"/>
                <a:ea typeface="Arial"/>
                <a:cs typeface="Arial"/>
                <a:sym typeface="Arial"/>
              </a:rPr>
              <a:t>Uma análise orientada por dados, com atenção à qualidade, ao contexto do negócio e às hipóteses que ainda precisam ser validadas.</a:t>
            </a:r>
            <a:endParaRPr sz="1100"/>
          </a:p>
        </p:txBody>
      </p:sp>
      <p:sp>
        <p:nvSpPr>
          <p:cNvPr id="623" name="Google Shape;623;p34"/>
          <p:cNvSpPr txBox="1"/>
          <p:nvPr/>
        </p:nvSpPr>
        <p:spPr>
          <a:xfrm>
            <a:off x="5637426" y="685800"/>
            <a:ext cx="29490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4C6986"/>
                </a:solidFill>
                <a:latin typeface="Arial"/>
                <a:ea typeface="Arial"/>
                <a:cs typeface="Arial"/>
                <a:sym typeface="Arial"/>
              </a:rPr>
              <a:t>ENCERRAMENTO</a:t>
            </a:r>
            <a:endParaRPr sz="1100"/>
          </a:p>
        </p:txBody>
      </p:sp>
      <p:sp>
        <p:nvSpPr>
          <p:cNvPr id="624" name="Google Shape;624;p34"/>
          <p:cNvSpPr/>
          <p:nvPr/>
        </p:nvSpPr>
        <p:spPr>
          <a:xfrm>
            <a:off x="5637426" y="1083564"/>
            <a:ext cx="2660975" cy="7406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4"/>
          <p:cNvSpPr txBox="1"/>
          <p:nvPr/>
        </p:nvSpPr>
        <p:spPr>
          <a:xfrm>
            <a:off x="5829455" y="1248156"/>
            <a:ext cx="2276917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DADOS  •  MODELO  •  INSIGHT</a:t>
            </a:r>
            <a:endParaRPr sz="1100"/>
          </a:p>
        </p:txBody>
      </p:sp>
      <p:sp>
        <p:nvSpPr>
          <p:cNvPr id="626" name="Google Shape;626;p34"/>
          <p:cNvSpPr txBox="1"/>
          <p:nvPr/>
        </p:nvSpPr>
        <p:spPr>
          <a:xfrm>
            <a:off x="5829455" y="1495044"/>
            <a:ext cx="2276917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77280"/>
                </a:solidFill>
                <a:latin typeface="Arial"/>
                <a:ea typeface="Arial"/>
                <a:cs typeface="Arial"/>
                <a:sym typeface="Arial"/>
              </a:rPr>
              <a:t>uma visão para apoiar decisões</a:t>
            </a:r>
            <a:endParaRPr sz="1100"/>
          </a:p>
        </p:txBody>
      </p:sp>
      <p:sp>
        <p:nvSpPr>
          <p:cNvPr id="627" name="Google Shape;627;p34"/>
          <p:cNvSpPr/>
          <p:nvPr/>
        </p:nvSpPr>
        <p:spPr>
          <a:xfrm>
            <a:off x="5658001" y="2228850"/>
            <a:ext cx="356626" cy="356616"/>
          </a:xfrm>
          <a:prstGeom prst="ellipse">
            <a:avLst/>
          </a:prstGeom>
          <a:solidFill>
            <a:srgbClr val="4C698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4"/>
          <p:cNvSpPr txBox="1"/>
          <p:nvPr/>
        </p:nvSpPr>
        <p:spPr>
          <a:xfrm>
            <a:off x="5658001" y="2324862"/>
            <a:ext cx="356626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629" name="Google Shape;629;p34"/>
          <p:cNvSpPr txBox="1"/>
          <p:nvPr/>
        </p:nvSpPr>
        <p:spPr>
          <a:xfrm>
            <a:off x="5575699" y="2688325"/>
            <a:ext cx="70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QUALIDADE</a:t>
            </a:r>
            <a:endParaRPr sz="1100"/>
          </a:p>
        </p:txBody>
      </p:sp>
      <p:sp>
        <p:nvSpPr>
          <p:cNvPr id="630" name="Google Shape;630;p34"/>
          <p:cNvSpPr/>
          <p:nvPr/>
        </p:nvSpPr>
        <p:spPr>
          <a:xfrm>
            <a:off x="6625005" y="2228850"/>
            <a:ext cx="356626" cy="356616"/>
          </a:xfrm>
          <a:prstGeom prst="ellipse">
            <a:avLst/>
          </a:prstGeom>
          <a:solidFill>
            <a:srgbClr val="12254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4"/>
          <p:cNvSpPr txBox="1"/>
          <p:nvPr/>
        </p:nvSpPr>
        <p:spPr>
          <a:xfrm>
            <a:off x="6625005" y="2324862"/>
            <a:ext cx="356626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632" name="Google Shape;632;p34"/>
          <p:cNvSpPr txBox="1"/>
          <p:nvPr/>
        </p:nvSpPr>
        <p:spPr>
          <a:xfrm>
            <a:off x="6542700" y="2688325"/>
            <a:ext cx="70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sz="1100"/>
          </a:p>
        </p:txBody>
      </p:sp>
      <p:sp>
        <p:nvSpPr>
          <p:cNvPr id="633" name="Google Shape;633;p34"/>
          <p:cNvSpPr/>
          <p:nvPr/>
        </p:nvSpPr>
        <p:spPr>
          <a:xfrm>
            <a:off x="7592008" y="2228850"/>
            <a:ext cx="356626" cy="356616"/>
          </a:xfrm>
          <a:prstGeom prst="ellipse">
            <a:avLst/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 txBox="1"/>
          <p:nvPr/>
        </p:nvSpPr>
        <p:spPr>
          <a:xfrm>
            <a:off x="7592008" y="2324862"/>
            <a:ext cx="356626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635" name="Google Shape;635;p34"/>
          <p:cNvSpPr txBox="1"/>
          <p:nvPr/>
        </p:nvSpPr>
        <p:spPr>
          <a:xfrm>
            <a:off x="7509710" y="2688336"/>
            <a:ext cx="54865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 sz="1100"/>
          </a:p>
        </p:txBody>
      </p:sp>
      <p:sp>
        <p:nvSpPr>
          <p:cNvPr id="636" name="Google Shape;636;p34"/>
          <p:cNvSpPr/>
          <p:nvPr/>
        </p:nvSpPr>
        <p:spPr>
          <a:xfrm>
            <a:off x="5733440" y="3120390"/>
            <a:ext cx="109731" cy="288036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6090066" y="3031236"/>
            <a:ext cx="109731" cy="466344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6446691" y="3086100"/>
            <a:ext cx="109731" cy="356616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6803317" y="2948940"/>
            <a:ext cx="109731" cy="630936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7159943" y="3051810"/>
            <a:ext cx="109731" cy="425196"/>
          </a:xfrm>
          <a:prstGeom prst="roundRect">
            <a:avLst>
              <a:gd fmla="val 16667" name="adj"/>
            </a:avLst>
          </a:prstGeom>
          <a:solidFill>
            <a:srgbClr val="D642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7516568" y="2990087"/>
            <a:ext cx="109731" cy="548640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7873194" y="3092958"/>
            <a:ext cx="109731" cy="342900"/>
          </a:xfrm>
          <a:prstGeom prst="roundRect">
            <a:avLst>
              <a:gd fmla="val 16667" name="adj"/>
            </a:avLst>
          </a:prstGeom>
          <a:solidFill>
            <a:srgbClr val="DDE2E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5623709" y="3737610"/>
            <a:ext cx="298330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22540"/>
                </a:solidFill>
                <a:latin typeface="Arial"/>
                <a:ea typeface="Arial"/>
                <a:cs typeface="Arial"/>
                <a:sym typeface="Arial"/>
              </a:rPr>
              <a:t>JÉSSICA PRATA S. BORGES</a:t>
            </a:r>
            <a:endParaRPr sz="1100"/>
          </a:p>
        </p:txBody>
      </p:sp>
      <p:sp>
        <p:nvSpPr>
          <p:cNvPr id="644" name="Google Shape;644;p34"/>
          <p:cNvSpPr txBox="1"/>
          <p:nvPr/>
        </p:nvSpPr>
        <p:spPr>
          <a:xfrm>
            <a:off x="5623709" y="3977640"/>
            <a:ext cx="29833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cap="none" strike="noStrike">
                <a:solidFill>
                  <a:srgbClr val="677280"/>
                </a:solidFill>
                <a:latin typeface="Arial"/>
                <a:ea typeface="Arial"/>
                <a:cs typeface="Arial"/>
                <a:sym typeface="Arial"/>
              </a:rPr>
              <a:t>Dados &amp; Melhoria Contínua • Ciência de Dados</a:t>
            </a:r>
            <a:endParaRPr sz="1100"/>
          </a:p>
        </p:txBody>
      </p:sp>
      <p:sp>
        <p:nvSpPr>
          <p:cNvPr id="645" name="Google Shape;645;p34"/>
          <p:cNvSpPr txBox="1"/>
          <p:nvPr/>
        </p:nvSpPr>
        <p:spPr>
          <a:xfrm>
            <a:off x="5623709" y="4361688"/>
            <a:ext cx="29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4C6986"/>
                </a:solidFill>
                <a:latin typeface="Arial"/>
                <a:ea typeface="Arial"/>
                <a:cs typeface="Arial"/>
                <a:sym typeface="Arial"/>
              </a:rPr>
              <a:t>jessicaprataborges.adm@gmail.com</a:t>
            </a:r>
            <a:endParaRPr sz="1100"/>
          </a:p>
        </p:txBody>
      </p:sp>
      <p:sp>
        <p:nvSpPr>
          <p:cNvPr id="646" name="Google Shape;646;p34"/>
          <p:cNvSpPr/>
          <p:nvPr/>
        </p:nvSpPr>
        <p:spPr>
          <a:xfrm>
            <a:off x="0" y="5068062"/>
            <a:ext cx="9144015" cy="75438"/>
          </a:xfrm>
          <a:prstGeom prst="rect">
            <a:avLst/>
          </a:prstGeom>
          <a:solidFill>
            <a:srgbClr val="E6B8A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